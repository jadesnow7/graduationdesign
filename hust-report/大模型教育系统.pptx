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Inter SemiBold"/>
      <p:regular r:id="rId27"/>
      <p:bold r:id="rId28"/>
      <p:italic r:id="rId29"/>
      <p:boldItalic r:id="rId30"/>
    </p:embeddedFont>
    <p:embeddedFont>
      <p:font typeface="Playfair Display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Inter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5B4AD5-4CF5-4D9E-9316-6F82F0ECFF75}">
  <a:tblStyle styleId="{CD5B4AD5-4CF5-4D9E-9316-6F82F0ECFF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.fntdata"/><Relationship Id="rId20" Type="http://schemas.openxmlformats.org/officeDocument/2006/relationships/slide" Target="slides/slide14.xml"/><Relationship Id="rId42" Type="http://schemas.openxmlformats.org/officeDocument/2006/relationships/font" Target="fonts/InterMedium-boldItalic.fntdata"/><Relationship Id="rId41" Type="http://schemas.openxmlformats.org/officeDocument/2006/relationships/font" Target="fonts/InterMedium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PlayfairDisplay-italic.fntdata"/><Relationship Id="rId10" Type="http://schemas.openxmlformats.org/officeDocument/2006/relationships/slide" Target="slides/slide4.xml"/><Relationship Id="rId32" Type="http://schemas.openxmlformats.org/officeDocument/2006/relationships/font" Target="fonts/PlayfairDisplay-bold.fntdata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font" Target="fonts/PlayfairDisplay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39" Type="http://schemas.openxmlformats.org/officeDocument/2006/relationships/font" Target="fonts/InterMedium-regular.fntdata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4a9a676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4a9a676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4a9a6769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c4a9a6769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4a9a6769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c4a9a67696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4a9a6769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c4a9a67696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11" Type="http://schemas.openxmlformats.org/officeDocument/2006/relationships/image" Target="../media/image17.png"/><Relationship Id="rId10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1" Type="http://schemas.openxmlformats.org/officeDocument/2006/relationships/image" Target="../media/image5.png"/><Relationship Id="rId10" Type="http://schemas.openxmlformats.org/officeDocument/2006/relationships/image" Target="../media/image10.png"/><Relationship Id="rId9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11" Type="http://schemas.openxmlformats.org/officeDocument/2006/relationships/image" Target="../media/image29.png"/><Relationship Id="rId10" Type="http://schemas.openxmlformats.org/officeDocument/2006/relationships/image" Target="../media/image30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11" Type="http://schemas.openxmlformats.org/officeDocument/2006/relationships/image" Target="../media/image29.png"/><Relationship Id="rId10" Type="http://schemas.openxmlformats.org/officeDocument/2006/relationships/image" Target="../media/image30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69.png"/><Relationship Id="rId8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10" Type="http://schemas.openxmlformats.org/officeDocument/2006/relationships/image" Target="../media/image31.png"/><Relationship Id="rId9" Type="http://schemas.openxmlformats.org/officeDocument/2006/relationships/image" Target="../media/image39.png"/><Relationship Id="rId5" Type="http://schemas.openxmlformats.org/officeDocument/2006/relationships/image" Target="../media/image9.png"/><Relationship Id="rId6" Type="http://schemas.openxmlformats.org/officeDocument/2006/relationships/image" Target="../media/image45.png"/><Relationship Id="rId7" Type="http://schemas.openxmlformats.org/officeDocument/2006/relationships/image" Target="../media/image37.png"/><Relationship Id="rId8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10" Type="http://schemas.openxmlformats.org/officeDocument/2006/relationships/image" Target="../media/image31.png"/><Relationship Id="rId9" Type="http://schemas.openxmlformats.org/officeDocument/2006/relationships/image" Target="../media/image39.png"/><Relationship Id="rId5" Type="http://schemas.openxmlformats.org/officeDocument/2006/relationships/image" Target="../media/image9.png"/><Relationship Id="rId6" Type="http://schemas.openxmlformats.org/officeDocument/2006/relationships/image" Target="../media/image45.png"/><Relationship Id="rId7" Type="http://schemas.openxmlformats.org/officeDocument/2006/relationships/image" Target="../media/image78.png"/><Relationship Id="rId8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46.png"/><Relationship Id="rId11" Type="http://schemas.openxmlformats.org/officeDocument/2006/relationships/image" Target="../media/image47.png"/><Relationship Id="rId10" Type="http://schemas.openxmlformats.org/officeDocument/2006/relationships/image" Target="../media/image44.png"/><Relationship Id="rId9" Type="http://schemas.openxmlformats.org/officeDocument/2006/relationships/image" Target="../media/image48.png"/><Relationship Id="rId5" Type="http://schemas.openxmlformats.org/officeDocument/2006/relationships/image" Target="../media/image9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46.png"/><Relationship Id="rId11" Type="http://schemas.openxmlformats.org/officeDocument/2006/relationships/image" Target="../media/image47.png"/><Relationship Id="rId10" Type="http://schemas.openxmlformats.org/officeDocument/2006/relationships/image" Target="../media/image44.png"/><Relationship Id="rId9" Type="http://schemas.openxmlformats.org/officeDocument/2006/relationships/image" Target="../media/image48.png"/><Relationship Id="rId5" Type="http://schemas.openxmlformats.org/officeDocument/2006/relationships/image" Target="../media/image9.png"/><Relationship Id="rId6" Type="http://schemas.openxmlformats.org/officeDocument/2006/relationships/image" Target="../media/image41.png"/><Relationship Id="rId7" Type="http://schemas.openxmlformats.org/officeDocument/2006/relationships/image" Target="../media/image79.png"/><Relationship Id="rId8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1.png"/><Relationship Id="rId11" Type="http://schemas.openxmlformats.org/officeDocument/2006/relationships/image" Target="../media/image52.png"/><Relationship Id="rId10" Type="http://schemas.openxmlformats.org/officeDocument/2006/relationships/image" Target="../media/image57.png"/><Relationship Id="rId9" Type="http://schemas.openxmlformats.org/officeDocument/2006/relationships/image" Target="../media/image55.png"/><Relationship Id="rId5" Type="http://schemas.openxmlformats.org/officeDocument/2006/relationships/image" Target="../media/image9.png"/><Relationship Id="rId6" Type="http://schemas.openxmlformats.org/officeDocument/2006/relationships/image" Target="../media/image49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1.png"/><Relationship Id="rId11" Type="http://schemas.openxmlformats.org/officeDocument/2006/relationships/image" Target="../media/image52.png"/><Relationship Id="rId10" Type="http://schemas.openxmlformats.org/officeDocument/2006/relationships/image" Target="../media/image57.png"/><Relationship Id="rId9" Type="http://schemas.openxmlformats.org/officeDocument/2006/relationships/image" Target="../media/image55.png"/><Relationship Id="rId5" Type="http://schemas.openxmlformats.org/officeDocument/2006/relationships/image" Target="../media/image9.png"/><Relationship Id="rId6" Type="http://schemas.openxmlformats.org/officeDocument/2006/relationships/image" Target="../media/image49.png"/><Relationship Id="rId7" Type="http://schemas.openxmlformats.org/officeDocument/2006/relationships/image" Target="../media/image81.png"/><Relationship Id="rId8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70.png"/><Relationship Id="rId11" Type="http://schemas.openxmlformats.org/officeDocument/2006/relationships/image" Target="../media/image60.png"/><Relationship Id="rId10" Type="http://schemas.openxmlformats.org/officeDocument/2006/relationships/image" Target="../media/image58.png"/><Relationship Id="rId12" Type="http://schemas.openxmlformats.org/officeDocument/2006/relationships/image" Target="../media/image63.png"/><Relationship Id="rId9" Type="http://schemas.openxmlformats.org/officeDocument/2006/relationships/image" Target="../media/image61.png"/><Relationship Id="rId5" Type="http://schemas.openxmlformats.org/officeDocument/2006/relationships/image" Target="../media/image50.png"/><Relationship Id="rId6" Type="http://schemas.openxmlformats.org/officeDocument/2006/relationships/image" Target="../media/image56.png"/><Relationship Id="rId7" Type="http://schemas.openxmlformats.org/officeDocument/2006/relationships/image" Target="../media/image62.png"/><Relationship Id="rId8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65.png"/><Relationship Id="rId5" Type="http://schemas.openxmlformats.org/officeDocument/2006/relationships/image" Target="../media/image7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59.png"/><Relationship Id="rId7" Type="http://schemas.openxmlformats.org/officeDocument/2006/relationships/image" Target="../media/image7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77.png"/><Relationship Id="rId5" Type="http://schemas.openxmlformats.org/officeDocument/2006/relationships/image" Target="../media/image8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5" Type="http://schemas.openxmlformats.org/officeDocument/2006/relationships/image" Target="../media/image76.png"/><Relationship Id="rId6" Type="http://schemas.openxmlformats.org/officeDocument/2006/relationships/image" Target="../media/image73.png"/><Relationship Id="rId7" Type="http://schemas.openxmlformats.org/officeDocument/2006/relationships/image" Target="../media/image66.png"/><Relationship Id="rId8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18419"/>
            <a:ext cx="1160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E4A62"/>
                </a:solidFill>
                <a:latin typeface="Inter"/>
                <a:ea typeface="Inter"/>
                <a:cs typeface="Inter"/>
                <a:sym typeface="Inter"/>
              </a:rPr>
              <a:t>RESEARCH DEFENSE PRESENTATION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556569"/>
            <a:ext cx="11601600" cy="9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面向大学</a:t>
            </a:r>
            <a:r>
              <a:rPr b="1" lang="en-US" sz="3750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场景</a:t>
            </a:r>
            <a:r>
              <a:rPr b="1" i="0" lang="en-US" sz="37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的智能</a:t>
            </a:r>
            <a:r>
              <a:rPr b="1" lang="en-US" sz="3750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教学</a:t>
            </a:r>
            <a:r>
              <a:rPr b="1" i="0" lang="en-US" sz="37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平台研究</a:t>
            </a:r>
            <a:endParaRPr b="1" i="0" sz="3750" u="none" cap="none" strike="noStrike">
              <a:solidFill>
                <a:srgbClr val="4A2C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950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基于 </a:t>
            </a:r>
            <a:r>
              <a:rPr b="1" lang="en-US" sz="1950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Graph-Enhanced（图检索增强） RAG 与 Multi-Agent （多智能体）</a:t>
            </a:r>
            <a:endParaRPr b="1" sz="1950">
              <a:solidFill>
                <a:srgbClr val="4A2C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715000" y="3937694"/>
            <a:ext cx="762000" cy="38100"/>
          </a:xfrm>
          <a:prstGeom prst="rect">
            <a:avLst/>
          </a:prstGeom>
          <a:solidFill>
            <a:srgbClr val="4A2C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26154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1F1F"/>
                </a:solidFill>
                <a:latin typeface="Inter Medium"/>
                <a:ea typeface="Inter Medium"/>
                <a:cs typeface="Inter Medium"/>
                <a:sym typeface="Inter Medium"/>
              </a:rPr>
              <a:t>Highlight: GraphRAG 提供可追溯证据，Multi-Agent 提供复杂任务稳定协作。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449050" y="628650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0" y="6257925"/>
            <a:ext cx="12192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4A2C2A"/>
                </a:solidFill>
                <a:latin typeface="Inter Medium"/>
                <a:ea typeface="Inter Medium"/>
                <a:cs typeface="Inter Medium"/>
                <a:sym typeface="Inter Medium"/>
              </a:rPr>
              <a:t> 本研究聚焦可信引用与协作稳定性的教学智能系统方法论。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BACKGROUND &amp; PAIN POINTS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背景与核心痛点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生成幻觉与引用失真：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通用模型无法对齐专业课件，导致学术答疑存在不可追溯的幻觉漏洞。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高并发与算力成本：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强依赖云端导致校园网高峰极易瘫痪，且 API 调用成本随学生规模呈指数爆炸。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学情数据隐私危机：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学生的代码实验与个人行为序列长传至第三方公有云，存在严重的数据泄露与违约风险。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95375" y="43032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高校知识产权(IP)外流：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核心教案、未发表科研成果直接喂给闭源大模型，面临数字资产被“洗稿”的致命隐患。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62200"/>
            <a:ext cx="3492549" cy="2546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2362200"/>
            <a:ext cx="3492549" cy="2546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2362200"/>
            <a:ext cx="3492549" cy="2546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CHALLENGES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核心研究挑战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31718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结构化逻辑依赖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3648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学术知识不仅是文本，更是网络。跨章节的依赖关系（如公式起源）普通向量模型无法捕获。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45074" y="31718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引用对齐与一致性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45074" y="3648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LLM 生成的答案与检索到的教材原文往往存在断层，无法保证严格的逻辑闭环一致性。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23374" y="31718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成本、隐私与延迟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23374" y="364807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全依赖云端大模型导致算力账单爆炸，且校园高并发环境下系统可用性与延迟极度恶化。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26860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5074" y="26860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23374" y="26860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2676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383976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 &amp; HYPOTHESIS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研究问题与假设映射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2174676"/>
            <a:ext cx="11049000" cy="315634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16"/>
          <p:cNvGraphicFramePr/>
          <p:nvPr/>
        </p:nvGraphicFramePr>
        <p:xfrm>
          <a:off x="571500" y="2174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{CD5B4AD5-4CF5-4D9E-9316-6F82F0ECFF75}</a:tableStyleId>
              </a:tblPr>
              <a:tblGrid>
                <a:gridCol w="2759875"/>
                <a:gridCol w="5519725"/>
                <a:gridCol w="2759875"/>
              </a:tblGrid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研究问题 (RQ)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具体假设 (Hypothesis)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评估指标 (Metrics)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RQ1: 知识溯源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GraphRAG 相较于传统 RAG，能否显著提升跨域证据的覆盖率并减少断层？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Recall@k, MRR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RQ2: 复杂任务编排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Multi-Agent 仲裁网络能否系统性降低高难度推导任务的教育幻觉率？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Citation Accuracy, Hallucination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RQ3: 端云算力路由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基于软硬协同的约束路由，能否有效推进全局成本与推理延迟的 Pareto 前沿？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P95 Latency, Cost/Req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16"/>
          <p:cNvSpPr/>
          <p:nvPr/>
        </p:nvSpPr>
        <p:spPr>
          <a:xfrm>
            <a:off x="576262" y="2728019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336131" y="2728019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855868" y="2728019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6262" y="359092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336131" y="3590925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855868" y="359092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76262" y="4453830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336131" y="4453830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855868" y="4453830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6262" y="531673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336131" y="5316735"/>
            <a:ext cx="5519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8855868" y="531673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1410950" y="6286500"/>
            <a:ext cx="209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12676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383976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CORE CONTRIBUTIONS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核心贡献与创新点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2174675"/>
            <a:ext cx="11049000" cy="29205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17"/>
          <p:cNvGraphicFramePr/>
          <p:nvPr/>
        </p:nvGraphicFramePr>
        <p:xfrm>
          <a:off x="571500" y="2174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{CD5B4AD5-4CF5-4D9E-9316-6F82F0ECFF75}</a:tableStyleId>
              </a:tblPr>
              <a:tblGrid>
                <a:gridCol w="3643025"/>
                <a:gridCol w="3643025"/>
                <a:gridCol w="3753450"/>
              </a:tblGrid>
              <a:tr h="55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系统创新模块 (Innovation)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解决的学术痛点 (Solved Pain)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可量化收益 (Measurable Gain)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A. Hybrid GraphRAG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种子向量 + k-hop 图扩展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单模态匹配失败，缺乏复杂知识间的网络因果关系。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提升 nDCG 检索精度与最终回复的 Groundedness (可信度)。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B. Multi-Agent Orchestration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集成 Planner 与 Verifier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单一大模型生成步骤失控，引发灾难性学术幻觉。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降低方差，提升复杂连串推理步骤的一致性成功率。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C. Constraint-Aware Routing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基于 Rust 底层探针的路由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教育机构引入通用大模型的资金成本与并发延迟瓶颈。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构建边缘算力卸载模型，逼近极低成本/低延迟理论极值。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17"/>
          <p:cNvSpPr/>
          <p:nvPr/>
        </p:nvSpPr>
        <p:spPr>
          <a:xfrm>
            <a:off x="576262" y="2728019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219277" y="2728019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7862292" y="2728019"/>
            <a:ext cx="37534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76262" y="5316735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4219277" y="5316735"/>
            <a:ext cx="3643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7862292" y="5316735"/>
            <a:ext cx="37534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62200"/>
            <a:ext cx="5334000" cy="2118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362200"/>
            <a:ext cx="5334000" cy="2118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71500" y="57150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RELATED WORK &amp; GAPS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相关工作与研究界限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66775" y="2657475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传统 RAG 框架的局限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581775" y="2657475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纯云端 Agent 生态的短板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62025" y="31327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057275" y="31337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高度依赖 Chroma/FAISS 向量距离，忽略了学术文档天然的章节图谱。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62025" y="37956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57275" y="379660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对“对比 A 和 B 原理”这种多文档跳跃性查询存在天生盲区。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677025" y="31327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772275" y="313372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LangChain/AutoGen 框架多关注云端调用闭环。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677025" y="35213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772275" y="352231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严重忽略了落地大学公有云/私有化混合部署的高并发通信开销。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 OVERVIEW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方法与架构总览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端云约束路由：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输入层接收学生问题后首选触发探测，将高复杂性的学术提问精准上抛云端。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智能中枢编排：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云端采用 Multi-Agent Orchestrator 作为中枢，彻底分解任务并交由各个细分领域的专家进行处理。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底层引擎挂载：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Researcher Agent 负责挂载 GraphRAG-X 模块，真正打通知识图谱与向量库的壁垒。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1095375" y="43032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最终融合输出：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经过核验后，输出包含硬性学术引用的高质量回答。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11430000" y="62865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571500" y="295275"/>
            <a:ext cx="11049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 OVERVIEW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方法与架构总览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95375" y="208597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端云约束路由：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输入层接收学生问题后首选触发探测，将高复杂性的学术提问精准上抛云端。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095375" y="282505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智能中枢编排：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云端采用 Multi-Agent Orchestrator 作为中枢，彻底分解任务并交由各个细分领域的专家进行处理。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095375" y="356413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底层引擎挂载：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Researcher Agent 负责挂载 GraphRAG-X 模块，真正打通知识图谱与向量库的壁垒。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095375" y="4303216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最终融合输出：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经过核验后，输出包含硬性学术引用的高质量回答。</a:t>
            </a:r>
            <a:endParaRPr/>
          </a:p>
        </p:txBody>
      </p:sp>
      <p:pic>
        <p:nvPicPr>
          <p:cNvPr id="223" name="Google Shape;223;p20" title="slide-07.png"/>
          <p:cNvPicPr preferRelativeResize="0"/>
          <p:nvPr/>
        </p:nvPicPr>
        <p:blipFill rotWithShape="1">
          <a:blip r:embed="rId7">
            <a:alphaModFix/>
          </a:blip>
          <a:srcRect b="0" l="4865" r="4865" t="0"/>
          <a:stretch/>
        </p:blipFill>
        <p:spPr>
          <a:xfrm>
            <a:off x="6296025" y="2095500"/>
            <a:ext cx="5314952" cy="3314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11430000" y="6286500"/>
            <a:ext cx="19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KNOWLEDGE MODELING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Hybrid GraphRAG: 知识建模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严谨图模式 Schema：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定义了基础教学单元的图元体系（概念、定理、衍生、互斥）。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动态抽取构建流：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采用无监督 LLM 扫描教材文本，实施 Entity Extraction（实体抽取）与 Relation Align（关系对齐）。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轻量级图库集成：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设计双模接口，支持小型 NetworkX 内存图测试，并平滑演进至企业级 Neo4j 图数据库。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71500" y="295275"/>
            <a:ext cx="11049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KNOWLEDGE MODELING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Hybrid GraphRAG: 知识建模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1095375" y="208597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严谨图模式 Schema：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定义了基础教学单元的图元体系（概念、定理、衍生、互斥）。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095375" y="282505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动态抽取构建流：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采用无监督 LLM 扫描教材文本，实施 Entity Extraction（实体抽取）与 Relation Align（关系对齐）。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095375" y="356413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轻量级图库集成：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设计双模接口，支持小型 NetworkX 内存图测试，并平滑演进至企业级 Neo4j 图数据库。</a:t>
            </a:r>
            <a:endParaRPr/>
          </a:p>
        </p:txBody>
      </p:sp>
      <p:pic>
        <p:nvPicPr>
          <p:cNvPr id="258" name="Google Shape;258;p22" title="slide-08.png"/>
          <p:cNvPicPr preferRelativeResize="0"/>
          <p:nvPr/>
        </p:nvPicPr>
        <p:blipFill rotWithShape="1">
          <a:blip r:embed="rId7">
            <a:alphaModFix/>
          </a:blip>
          <a:srcRect b="0" l="5156" r="5165" t="0"/>
          <a:stretch/>
        </p:blipFill>
        <p:spPr>
          <a:xfrm>
            <a:off x="6296025" y="2095500"/>
            <a:ext cx="5314952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11420475" y="6286500"/>
            <a:ext cx="20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RETRIEVAL &amp; ALIGNMENT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混合检索与引用溯源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语义向量捕获：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Vector 库通过 Embedding 迅速定位与 Query 最具强语义关联的种子节点 (Seed Entities)。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核心子图扩展：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图谱执行 K-hop 的广度探索，沿边(Edges)提取隐藏属性，还原学术逻辑全貌。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深度分数融合：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首创 RRF (倒数秩融合) 算法，彻底解决图得分与向量距离量纲不一致的难题。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1095375" y="43032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重排截断控制：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BGE-Reranker 逆向排序过滤噪音，保障最终的证据切片纯净度。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11420475" y="6286500"/>
            <a:ext cx="200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>
            <a:off x="571500" y="295275"/>
            <a:ext cx="11049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RETRIEVAL &amp; ALIGNMENT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混合检索与引用溯源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1095375" y="208597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语义向量捕获：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Vector 库通过 Embedding 迅速定位与 Query 最具强语义关联的种子节点 (Seed Entities)。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1095375" y="282505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核心子图扩展：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图谱执行 K-hop 的广度探索，沿边(Edges)提取隐藏属性，还原学术逻辑全貌。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1095375" y="356413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深度分数融合：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首创 RRF (倒数秩融合) 算法，彻底解决图得分与向量距离量纲不一致的难题。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1095375" y="4303216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重排截断控制：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BGE-Reranker 逆向排序过滤噪音，保障最终的证据切片纯净度。</a:t>
            </a:r>
            <a:endParaRPr/>
          </a:p>
        </p:txBody>
      </p:sp>
      <p:pic>
        <p:nvPicPr>
          <p:cNvPr id="295" name="Google Shape;295;p24" title="slide-09.png"/>
          <p:cNvPicPr preferRelativeResize="0"/>
          <p:nvPr/>
        </p:nvPicPr>
        <p:blipFill rotWithShape="1">
          <a:blip r:embed="rId7">
            <a:alphaModFix/>
          </a:blip>
          <a:srcRect b="0" l="179" r="-180" t="0"/>
          <a:stretch/>
        </p:blipFill>
        <p:spPr>
          <a:xfrm>
            <a:off x="6296025" y="2095500"/>
            <a:ext cx="5314952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11420475" y="6286500"/>
            <a:ext cx="20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571500" y="29527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AGENT ORCHESTRATION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多智能体：仲裁与回退机制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1095375" y="208597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任务深度分解：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Planner Agent 接收到复杂请求后，负责拆解多步并行推导流程图。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095375" y="282505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独立工具执行：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各垂直 Executor 按需调用底层基建（如 Researcher 调用 GraphRAG 搜索证据）生成中间草案。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095375" y="3564135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强力仲裁拦截：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独创的 Verifier Agent 负责核验返回数据，事实不符或引用缺失立即执行熔断拦截。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1095375" y="4303216"/>
            <a:ext cx="48101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闭环自愈回退：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拦截后触发 Fallback (回退重试) 或调用补充工具，绝对杜绝“带病输出”。</a:t>
            </a:r>
            <a:endParaRPr/>
          </a:p>
        </p:txBody>
      </p:sp>
      <p:pic>
        <p:nvPicPr>
          <p:cNvPr descr="image.png" id="314" name="Google Shape;31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095500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11449050" y="628650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23975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8597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/>
        </p:nvSpPr>
        <p:spPr>
          <a:xfrm>
            <a:off x="571500" y="295275"/>
            <a:ext cx="11049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AGENT ORCHESTRATION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多智能体：仲裁与回退机制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1095375" y="208597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任务深度分解：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Planner Agent 接收到复杂请求后，负责拆解多步并行推导流程图。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1095375" y="282505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独立工具执行：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各垂直 Executor 按需调用底层基建（如 Researcher 调用 GraphRAG 搜索证据）生成中间草案。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1095375" y="356413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强力仲裁拦截：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独创的 Verifier Agent 负责核验返回数据，事实不符或引用缺失立即执行熔断拦截。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1095375" y="4303216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闭环自愈回退：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拦截后触发 Fallback (回退重试) 或调用补充工具，绝对杜绝“带病输出”。</a:t>
            </a:r>
            <a:endParaRPr/>
          </a:p>
        </p:txBody>
      </p:sp>
      <p:pic>
        <p:nvPicPr>
          <p:cNvPr id="333" name="Google Shape;333;p26" title="slide-10.png"/>
          <p:cNvPicPr preferRelativeResize="0"/>
          <p:nvPr/>
        </p:nvPicPr>
        <p:blipFill rotWithShape="1">
          <a:blip r:embed="rId7">
            <a:alphaModFix/>
          </a:blip>
          <a:srcRect b="0" l="5156" r="5165" t="0"/>
          <a:stretch/>
        </p:blipFill>
        <p:spPr>
          <a:xfrm>
            <a:off x="6296025" y="2095500"/>
            <a:ext cx="5314952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19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285839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35974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33655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6"/>
          <p:cNvSpPr txBox="1"/>
          <p:nvPr/>
        </p:nvSpPr>
        <p:spPr>
          <a:xfrm>
            <a:off x="11449050" y="6286500"/>
            <a:ext cx="17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15454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77454"/>
            <a:ext cx="5334000" cy="3950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777454"/>
            <a:ext cx="5334000" cy="3950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7"/>
          <p:cNvSpPr txBox="1"/>
          <p:nvPr/>
        </p:nvSpPr>
        <p:spPr>
          <a:xfrm>
            <a:off x="571500" y="-13245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ROUTING STRATEGY &amp; NPU ACCELERATION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端云约束路由与 NPU 底层加速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866775" y="2072729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路由策略与性能前沿</a:t>
            </a:r>
            <a:endParaRPr/>
          </a:p>
        </p:txBody>
      </p:sp>
      <p:sp>
        <p:nvSpPr>
          <p:cNvPr id="350" name="Google Shape;350;p27"/>
          <p:cNvSpPr/>
          <p:nvPr/>
        </p:nvSpPr>
        <p:spPr>
          <a:xfrm>
            <a:off x="866775" y="2444204"/>
            <a:ext cx="4743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866775" y="4206329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动态决策引擎：</a:t>
            </a: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综合评估 Task 复杂度、网络带宽与设备负载，将轻量对话截留在本地，极重型任务抛入云端，达成 Pareto 最优。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6581775" y="2072729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@edge-ai/sdk 硬件级保障</a:t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6581775" y="2444204"/>
            <a:ext cx="47434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4" name="Google Shape;35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10130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2101304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7"/>
          <p:cNvSpPr txBox="1"/>
          <p:nvPr/>
        </p:nvSpPr>
        <p:spPr>
          <a:xfrm>
            <a:off x="7058025" y="2653754"/>
            <a:ext cx="4267200" cy="748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跨平台 NPU 智能探测：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探针自动识别宿主机芯片，将计算图动态绑定至 Apple ANE (CoreML) 或 Windows (DirectML)。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7058025" y="3573809"/>
            <a:ext cx="4267200" cy="748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Rust 零拷贝推理防阻塞：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开启 Blocking 线程执行 INT4 矩阵运算，压缩常驻内存，确保模型生成绝不卡死前端渲染。</a:t>
            </a:r>
            <a:endParaRPr/>
          </a:p>
        </p:txBody>
      </p:sp>
      <p:sp>
        <p:nvSpPr>
          <p:cNvPr id="358" name="Google Shape;358;p27"/>
          <p:cNvSpPr txBox="1"/>
          <p:nvPr/>
        </p:nvSpPr>
        <p:spPr>
          <a:xfrm>
            <a:off x="7058025" y="4493865"/>
            <a:ext cx="4267200" cy="748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Tauri IPC StreamId 隔离：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独创流隔离协议，完美化解多路大模型并发问答时引发的严重 Token 串轨灾难。</a:t>
            </a:r>
            <a:endParaRPr/>
          </a:p>
        </p:txBody>
      </p:sp>
      <p:pic>
        <p:nvPicPr>
          <p:cNvPr descr="image.png" id="359" name="Google Shape;35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72275" y="2672804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72275" y="359285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72275" y="451291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7"/>
          <p:cNvSpPr txBox="1"/>
          <p:nvPr/>
        </p:nvSpPr>
        <p:spPr>
          <a:xfrm>
            <a:off x="11487150" y="6286500"/>
            <a:ext cx="133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7" name="Google Shape;3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685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8"/>
          <p:cNvSpPr txBox="1"/>
          <p:nvPr/>
        </p:nvSpPr>
        <p:spPr>
          <a:xfrm>
            <a:off x="571500" y="43815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ROADMAP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研发路线图与关键里程碑</a:t>
            </a:r>
            <a:endParaRPr/>
          </a:p>
        </p:txBody>
      </p:sp>
      <p:sp>
        <p:nvSpPr>
          <p:cNvPr id="371" name="Google Shape;371;p28"/>
          <p:cNvSpPr/>
          <p:nvPr/>
        </p:nvSpPr>
        <p:spPr>
          <a:xfrm>
            <a:off x="571500" y="3829050"/>
            <a:ext cx="11049000" cy="3810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657987" y="4133850"/>
            <a:ext cx="236826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E4A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阶段一 (1-2月)</a:t>
            </a:r>
            <a:endParaRPr/>
          </a:p>
        </p:txBody>
      </p:sp>
      <p:sp>
        <p:nvSpPr>
          <p:cNvPr id="373" name="Google Shape;373;p28"/>
          <p:cNvSpPr txBox="1"/>
          <p:nvPr/>
        </p:nvSpPr>
        <p:spPr>
          <a:xfrm>
            <a:off x="714375" y="4514850"/>
            <a:ext cx="225549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底层基建与混合检索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搭建 Tauri 端侧环境；完成 GraphRAG-X 的 NetworkX 架构与 RRF 融合算法开发。</a:t>
            </a:r>
            <a:endParaRPr/>
          </a:p>
        </p:txBody>
      </p:sp>
      <p:sp>
        <p:nvSpPr>
          <p:cNvPr id="374" name="Google Shape;374;p28"/>
          <p:cNvSpPr txBox="1"/>
          <p:nvPr/>
        </p:nvSpPr>
        <p:spPr>
          <a:xfrm>
            <a:off x="3493907" y="2181225"/>
            <a:ext cx="236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阶段二 (3月)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3550294" y="2562225"/>
            <a:ext cx="225549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智能编排与算力路由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引入 LangGraph 实现 Planner-Verifier 仲裁网络；完成端云动态约束路由引擎联调。</a:t>
            </a:r>
            <a:endParaRPr/>
          </a:p>
        </p:txBody>
      </p:sp>
      <p:sp>
        <p:nvSpPr>
          <p:cNvPr id="376" name="Google Shape;376;p28"/>
          <p:cNvSpPr txBox="1"/>
          <p:nvPr/>
        </p:nvSpPr>
        <p:spPr>
          <a:xfrm>
            <a:off x="6329827" y="4133850"/>
            <a:ext cx="236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E4A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阶段三 (</a:t>
            </a:r>
            <a:r>
              <a:rPr lang="en-US" sz="1650">
                <a:solidFill>
                  <a:srgbClr val="2E4A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r>
              <a:rPr b="0" i="0" lang="en-US" sz="1650" u="none" cap="none" strike="noStrike">
                <a:solidFill>
                  <a:srgbClr val="2E4A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月)</a:t>
            </a:r>
            <a:endParaRPr/>
          </a:p>
        </p:txBody>
      </p:sp>
      <p:sp>
        <p:nvSpPr>
          <p:cNvPr id="377" name="Google Shape;377;p28"/>
          <p:cNvSpPr txBox="1"/>
          <p:nvPr/>
        </p:nvSpPr>
        <p:spPr>
          <a:xfrm>
            <a:off x="6386214" y="4514850"/>
            <a:ext cx="225549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消融实验与指标测定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对比 Vanilla RAG 基线，收集精度、延迟与成本数据；执行严苛的模块级消融实验验证假设。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9165747" y="2181225"/>
            <a:ext cx="236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阶段四 (</a:t>
            </a:r>
            <a:r>
              <a:rPr lang="en-US" sz="1650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r>
              <a:rPr b="0" i="0" lang="en-US" sz="16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月)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9222134" y="2562225"/>
            <a:ext cx="225549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开源发布与论文定稿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完善 Benchmark 脚本与交互式调试台；整理答辩数据集、定稿学术论文并正式开源系统库。</a:t>
            </a:r>
            <a:endParaRPr/>
          </a:p>
        </p:txBody>
      </p:sp>
      <p:sp>
        <p:nvSpPr>
          <p:cNvPr id="380" name="Google Shape;380;p28"/>
          <p:cNvSpPr txBox="1"/>
          <p:nvPr/>
        </p:nvSpPr>
        <p:spPr>
          <a:xfrm>
            <a:off x="11458575" y="62865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</a:t>
            </a:r>
            <a:endParaRPr/>
          </a:p>
        </p:txBody>
      </p:sp>
      <p:sp>
        <p:nvSpPr>
          <p:cNvPr id="381" name="Google Shape;381;p28"/>
          <p:cNvSpPr/>
          <p:nvPr/>
        </p:nvSpPr>
        <p:spPr>
          <a:xfrm>
            <a:off x="1727820" y="3733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AFAF7"/>
          </a:solidFill>
          <a:ln cap="flat" cmpd="sng" w="38100">
            <a:solidFill>
              <a:srgbClr val="2E4A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4563740" y="3733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AFAF7"/>
          </a:solidFill>
          <a:ln cap="flat" cmpd="sng" w="38100">
            <a:solidFill>
              <a:srgbClr val="4A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7399659" y="3733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AFAF7"/>
          </a:solidFill>
          <a:ln cap="flat" cmpd="sng" w="38100">
            <a:solidFill>
              <a:srgbClr val="2E4A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10235579" y="3733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AFAF7"/>
          </a:solidFill>
          <a:ln cap="flat" cmpd="sng" w="38100">
            <a:solidFill>
              <a:srgbClr val="4A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62200"/>
            <a:ext cx="5334000" cy="278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362200"/>
            <a:ext cx="5334000" cy="2781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9"/>
          <p:cNvSpPr txBox="1"/>
          <p:nvPr/>
        </p:nvSpPr>
        <p:spPr>
          <a:xfrm>
            <a:off x="571500" y="571500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EXPERIMENTAL DESIGN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实验设计：对比基线与消融体系</a:t>
            </a:r>
            <a:endParaRPr/>
          </a:p>
        </p:txBody>
      </p:sp>
      <p:sp>
        <p:nvSpPr>
          <p:cNvPr id="395" name="Google Shape;395;p29"/>
          <p:cNvSpPr txBox="1"/>
          <p:nvPr/>
        </p:nvSpPr>
        <p:spPr>
          <a:xfrm>
            <a:off x="866775" y="2657475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对比基线 (Baselines)</a:t>
            </a:r>
            <a:endParaRPr/>
          </a:p>
        </p:txBody>
      </p:sp>
      <p:sp>
        <p:nvSpPr>
          <p:cNvPr id="396" name="Google Shape;396;p29"/>
          <p:cNvSpPr txBox="1"/>
          <p:nvPr/>
        </p:nvSpPr>
        <p:spPr>
          <a:xfrm>
            <a:off x="6581775" y="2657475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消融实验 (Ablations)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962025" y="31327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1057275" y="31337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检索模型比对：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Vanilla RAG vs 单一 GraphRAG vs Hybrid RAG。</a:t>
            </a:r>
            <a:endParaRPr/>
          </a:p>
        </p:txBody>
      </p:sp>
      <p:sp>
        <p:nvSpPr>
          <p:cNvPr id="399" name="Google Shape;399;p29"/>
          <p:cNvSpPr txBox="1"/>
          <p:nvPr/>
        </p:nvSpPr>
        <p:spPr>
          <a:xfrm>
            <a:off x="962025" y="37956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29"/>
          <p:cNvSpPr txBox="1"/>
          <p:nvPr/>
        </p:nvSpPr>
        <p:spPr>
          <a:xfrm>
            <a:off x="1057275" y="379660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协作范式比对：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Single Agent 直接回复 vs Multi-Agent 编排。</a:t>
            </a:r>
            <a:endParaRPr/>
          </a:p>
        </p:txBody>
      </p:sp>
      <p:sp>
        <p:nvSpPr>
          <p:cNvPr id="401" name="Google Shape;401;p29"/>
          <p:cNvSpPr txBox="1"/>
          <p:nvPr/>
        </p:nvSpPr>
        <p:spPr>
          <a:xfrm>
            <a:off x="962025" y="44585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2" name="Google Shape;402;p29"/>
          <p:cNvSpPr txBox="1"/>
          <p:nvPr/>
        </p:nvSpPr>
        <p:spPr>
          <a:xfrm>
            <a:off x="1057275" y="445948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调度策略比对：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All-Cloud vs 约束感知的动态路由。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6677025" y="31327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4" name="Google Shape;404;p29"/>
          <p:cNvSpPr txBox="1"/>
          <p:nvPr/>
        </p:nvSpPr>
        <p:spPr>
          <a:xfrm>
            <a:off x="6772275" y="31337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移除图扩展验证：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No Graph Expansion (退化为关键词匹配)。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6677025" y="37956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6772275" y="379660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关闭质量关卡：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摘除 Verifier 仲裁节点 / 阻断 Fallback 闭环。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6677025" y="44585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6772275" y="445948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关闭重排控制：</a:t>
            </a:r>
            <a:r>
              <a:rPr b="0" i="0" lang="en-US" sz="135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 No Reranker 模块测试语义污染率。</a:t>
            </a:r>
            <a:endParaRPr/>
          </a:p>
        </p:txBody>
      </p:sp>
      <p:sp>
        <p:nvSpPr>
          <p:cNvPr id="409" name="Google Shape;409;p29"/>
          <p:cNvSpPr txBox="1"/>
          <p:nvPr/>
        </p:nvSpPr>
        <p:spPr>
          <a:xfrm>
            <a:off x="11458575" y="62865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9896"/>
            <a:ext cx="11049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105525"/>
            <a:ext cx="11049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0"/>
          <p:cNvSpPr txBox="1"/>
          <p:nvPr/>
        </p:nvSpPr>
        <p:spPr>
          <a:xfrm>
            <a:off x="571500" y="521196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2E4A6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METRICS &amp; RESULTS</a:t>
            </a: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评价指标闭环与预期推演</a:t>
            </a: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571500" y="2311900"/>
            <a:ext cx="11049000" cy="2715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9" name="Google Shape;419;p30"/>
          <p:cNvGraphicFramePr/>
          <p:nvPr/>
        </p:nvGraphicFramePr>
        <p:xfrm>
          <a:off x="571500" y="23118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{CD5B4AD5-4CF5-4D9E-9316-6F82F0ECFF75}</a:tableStyleId>
              </a:tblPr>
              <a:tblGrid>
                <a:gridCol w="3311725"/>
                <a:gridCol w="4967725"/>
                <a:gridCol w="2760025"/>
              </a:tblGrid>
              <a:tr h="55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维度指标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具体考量细项 (Measurements)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A2C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模型期望结论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7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检索精度体系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Recall@k, MRR (Mean Reciprocal Rank), nDCG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基于 Hybrid 范式大幅拉升。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内容可信与一致性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Groundedness, Citation Accuracy, Hallucination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借由 Agent 仲裁控制幻觉方差。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工程系统效率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P95 Latency 尾部延迟分布, Request/Token Cost 消耗率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F1F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通过约束路由触及成本极值点。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0" name="Google Shape;420;p30"/>
          <p:cNvSpPr/>
          <p:nvPr/>
        </p:nvSpPr>
        <p:spPr>
          <a:xfrm>
            <a:off x="576262" y="2865239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0"/>
          <p:cNvSpPr/>
          <p:nvPr/>
        </p:nvSpPr>
        <p:spPr>
          <a:xfrm>
            <a:off x="3887985" y="2865239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8855719" y="2865239"/>
            <a:ext cx="2760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576262" y="4316759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0"/>
          <p:cNvSpPr/>
          <p:nvPr/>
        </p:nvSpPr>
        <p:spPr>
          <a:xfrm>
            <a:off x="3887985" y="4316759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8855719" y="4316759"/>
            <a:ext cx="2760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576262" y="5179665"/>
            <a:ext cx="3311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3887985" y="5179665"/>
            <a:ext cx="49677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8855719" y="5179665"/>
            <a:ext cx="2760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0"/>
          <p:cNvSpPr txBox="1"/>
          <p:nvPr/>
        </p:nvSpPr>
        <p:spPr>
          <a:xfrm>
            <a:off x="11449050" y="628650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4" name="Google Shape;4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1"/>
          <p:cNvSpPr txBox="1"/>
          <p:nvPr/>
        </p:nvSpPr>
        <p:spPr>
          <a:xfrm>
            <a:off x="295275" y="571500"/>
            <a:ext cx="1160145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 &amp; A</a:t>
            </a:r>
            <a:endParaRPr/>
          </a:p>
        </p:txBody>
      </p:sp>
      <p:sp>
        <p:nvSpPr>
          <p:cNvPr id="436" name="Google Shape;436;p31"/>
          <p:cNvSpPr txBox="1"/>
          <p:nvPr/>
        </p:nvSpPr>
        <p:spPr>
          <a:xfrm>
            <a:off x="571500" y="17811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基于防劣化约束设计、清晰风险兜底 (Mock Fallback) 与多期研发里程碑验证。</a:t>
            </a:r>
            <a:endParaRPr/>
          </a:p>
        </p:txBody>
      </p:sp>
      <p:sp>
        <p:nvSpPr>
          <p:cNvPr id="437" name="Google Shape;437;p31"/>
          <p:cNvSpPr/>
          <p:nvPr/>
        </p:nvSpPr>
        <p:spPr>
          <a:xfrm>
            <a:off x="5381625" y="2497335"/>
            <a:ext cx="1428750" cy="19050"/>
          </a:xfrm>
          <a:prstGeom prst="rect">
            <a:avLst/>
          </a:prstGeom>
          <a:solidFill>
            <a:srgbClr val="C19B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1"/>
          <p:cNvSpPr txBox="1"/>
          <p:nvPr/>
        </p:nvSpPr>
        <p:spPr>
          <a:xfrm>
            <a:off x="571500" y="2992635"/>
            <a:ext cx="110490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2C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THANK YOU FOR YOUR ATTENTION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A2C2A"/>
                </a:solidFill>
                <a:latin typeface="Inter"/>
                <a:ea typeface="Inter"/>
                <a:cs typeface="Inter"/>
                <a:sym typeface="Inter"/>
              </a:rPr>
              <a:t>欢迎答辩委员会各位专家提问与指正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11458575" y="6286500"/>
            <a:ext cx="16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0" y="6257925"/>
            <a:ext cx="12192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4A2C2A"/>
                </a:solidFill>
                <a:latin typeface="Inter Medium"/>
                <a:ea typeface="Inter Medium"/>
                <a:cs typeface="Inter Medium"/>
                <a:sym typeface="Inter Medium"/>
              </a:rPr>
              <a:t> 研究路径高度清晰，架构系统级工程风险处于可防可控范围，并具强大前沿学术落地潜力。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7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2"/>
          <p:cNvSpPr/>
          <p:nvPr/>
        </p:nvSpPr>
        <p:spPr>
          <a:xfrm>
            <a:off x="571500" y="6956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571500" y="148039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571500" y="226516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571500" y="304993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571500" y="383470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571500" y="147086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571500" y="147086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2"/>
          <p:cNvSpPr/>
          <p:nvPr/>
        </p:nvSpPr>
        <p:spPr>
          <a:xfrm>
            <a:off x="571500" y="22556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2"/>
          <p:cNvSpPr/>
          <p:nvPr/>
        </p:nvSpPr>
        <p:spPr>
          <a:xfrm>
            <a:off x="571500" y="22556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2"/>
          <p:cNvSpPr/>
          <p:nvPr/>
        </p:nvSpPr>
        <p:spPr>
          <a:xfrm>
            <a:off x="571500" y="3040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2"/>
          <p:cNvSpPr/>
          <p:nvPr/>
        </p:nvSpPr>
        <p:spPr>
          <a:xfrm>
            <a:off x="571500" y="3040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571500" y="38251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2"/>
          <p:cNvSpPr/>
          <p:nvPr/>
        </p:nvSpPr>
        <p:spPr>
          <a:xfrm>
            <a:off x="571500" y="38251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571500" y="4808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2"/>
          <p:cNvSpPr/>
          <p:nvPr/>
        </p:nvSpPr>
        <p:spPr>
          <a:xfrm>
            <a:off x="571500" y="4808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1" name="Google Shape;46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450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/>
          <p:nvPr/>
        </p:nvSpPr>
        <p:spPr>
          <a:xfrm>
            <a:off x="1666875" y="83849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https://theamikusqriae.com/wp-content/uploads/2024/07/algorithms-15-00418-g001-1024x725.webp</a:t>
            </a:r>
            <a:endParaRPr/>
          </a:p>
        </p:txBody>
      </p:sp>
      <p:sp>
        <p:nvSpPr>
          <p:cNvPr id="463" name="Google Shape;463;p32"/>
          <p:cNvSpPr txBox="1"/>
          <p:nvPr/>
        </p:nvSpPr>
        <p:spPr>
          <a:xfrm>
            <a:off x="1666875" y="10842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theamikusqriae.com</a:t>
            </a:r>
            <a:endParaRPr/>
          </a:p>
        </p:txBody>
      </p:sp>
      <p:pic>
        <p:nvPicPr>
          <p:cNvPr descr="image.png" id="464" name="Google Shape;46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298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2"/>
          <p:cNvSpPr txBox="1"/>
          <p:nvPr/>
        </p:nvSpPr>
        <p:spPr>
          <a:xfrm>
            <a:off x="1666875" y="162326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https://miro.medium.com/v2/resize:fit:1200/0*IgOnp2b7ze0YFCxj.png</a:t>
            </a:r>
            <a:endParaRPr/>
          </a:p>
        </p:txBody>
      </p:sp>
      <p:sp>
        <p:nvSpPr>
          <p:cNvPr id="466" name="Google Shape;466;p32"/>
          <p:cNvSpPr txBox="1"/>
          <p:nvPr/>
        </p:nvSpPr>
        <p:spPr>
          <a:xfrm>
            <a:off x="1666875" y="18689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ai.plainenglish.io</a:t>
            </a:r>
            <a:endParaRPr/>
          </a:p>
        </p:txBody>
      </p:sp>
      <p:pic>
        <p:nvPicPr>
          <p:cNvPr descr="image.png" id="467" name="Google Shape;46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14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2"/>
          <p:cNvSpPr txBox="1"/>
          <p:nvPr/>
        </p:nvSpPr>
        <p:spPr>
          <a:xfrm>
            <a:off x="1666875" y="240803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https://miro.medium.com/0*-7_qfZhifcgCH4va</a:t>
            </a:r>
            <a:endParaRPr/>
          </a:p>
        </p:txBody>
      </p:sp>
      <p:sp>
        <p:nvSpPr>
          <p:cNvPr id="469" name="Google Shape;469;p32"/>
          <p:cNvSpPr txBox="1"/>
          <p:nvPr/>
        </p:nvSpPr>
        <p:spPr>
          <a:xfrm>
            <a:off x="1666875" y="265375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javascript.plainenglish.io</a:t>
            </a:r>
            <a:endParaRPr/>
          </a:p>
        </p:txBody>
      </p:sp>
      <p:pic>
        <p:nvPicPr>
          <p:cNvPr descr="image.png" id="470" name="Google Shape;47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993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2"/>
          <p:cNvSpPr txBox="1"/>
          <p:nvPr/>
        </p:nvSpPr>
        <p:spPr>
          <a:xfrm>
            <a:off x="1666875" y="319280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https://miro.medium.com/0*7OaGfO2DctgswevJ.jpeg</a:t>
            </a:r>
            <a:endParaRPr/>
          </a:p>
        </p:txBody>
      </p:sp>
      <p:sp>
        <p:nvSpPr>
          <p:cNvPr id="472" name="Google Shape;472;p32"/>
          <p:cNvSpPr txBox="1"/>
          <p:nvPr/>
        </p:nvSpPr>
        <p:spPr>
          <a:xfrm>
            <a:off x="1666875" y="343852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pub.towardsai.net</a:t>
            </a:r>
            <a:endParaRPr/>
          </a:p>
        </p:txBody>
      </p:sp>
      <p:pic>
        <p:nvPicPr>
          <p:cNvPr descr="image.png" id="473" name="Google Shape;473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832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2"/>
          <p:cNvSpPr txBox="1"/>
          <p:nvPr/>
        </p:nvSpPr>
        <p:spPr>
          <a:xfrm>
            <a:off x="1666875" y="397758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https://preview.redd.it/break-down-plan-implement-verify-my-multi-model-workflow-v0-5rf1erdenzif1.png?auto=webp&amp;s=9dba50ccd03cdc0dcfd61e0d5755947e5904f5c3</a:t>
            </a:r>
            <a:endParaRPr/>
          </a:p>
        </p:txBody>
      </p:sp>
      <p:sp>
        <p:nvSpPr>
          <p:cNvPr id="475" name="Google Shape;475;p32"/>
          <p:cNvSpPr txBox="1"/>
          <p:nvPr/>
        </p:nvSpPr>
        <p:spPr>
          <a:xfrm>
            <a:off x="1666875" y="442138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www.reddit.com</a:t>
            </a:r>
            <a:endParaRPr/>
          </a:p>
        </p:txBody>
      </p:sp>
      <p:pic>
        <p:nvPicPr>
          <p:cNvPr descr="image.png" id="476" name="Google Shape;476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0661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2"/>
          <p:cNvSpPr txBox="1"/>
          <p:nvPr/>
        </p:nvSpPr>
        <p:spPr>
          <a:xfrm>
            <a:off x="1666875" y="496044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https://media.istockphoto.com/id/1014415234/vector/education-network-hexagon-abstract-background-with-lines-polygons-and-integrate-flat-icons.jpg?s=612x612&amp;w=is&amp;k=20&amp;c=fAs7TZTwttyZ1pkHjRpfbMZXc0xUWOoWgm2PX3udKAk=</a:t>
            </a:r>
            <a:endParaRPr/>
          </a:p>
        </p:txBody>
      </p:sp>
      <p:sp>
        <p:nvSpPr>
          <p:cNvPr id="478" name="Google Shape;478;p32"/>
          <p:cNvSpPr txBox="1"/>
          <p:nvPr/>
        </p:nvSpPr>
        <p:spPr>
          <a:xfrm>
            <a:off x="1666875" y="54042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F1F1F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479" name="Google Shape;479;p32"/>
          <p:cNvSpPr txBox="1"/>
          <p:nvPr/>
        </p:nvSpPr>
        <p:spPr>
          <a:xfrm>
            <a:off x="571500" y="-75902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4A2C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