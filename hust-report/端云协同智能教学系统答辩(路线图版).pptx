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y="6858000" cx="12192000"/>
  <p:notesSz cx="6858000" cy="9144000"/>
  <p:embeddedFontLst>
    <p:embeddedFont>
      <p:font typeface="Inter SemiBold"/>
      <p:regular r:id="rId23"/>
      <p:bold r:id="rId24"/>
      <p:italic r:id="rId25"/>
      <p:boldItalic r:id="rId26"/>
    </p:embeddedFont>
    <p:embeddedFont>
      <p:font typeface="Playfair Display"/>
      <p:regular r:id="rId27"/>
      <p:bold r:id="rId28"/>
      <p:italic r:id="rId29"/>
      <p:boldItalic r:id="rId30"/>
    </p:embeddedFont>
    <p:embeddedFont>
      <p:font typeface="Inter"/>
      <p:regular r:id="rId31"/>
      <p:bold r:id="rId32"/>
      <p:italic r:id="rId33"/>
      <p:boldItalic r:id="rId34"/>
    </p:embeddedFont>
    <p:embeddedFont>
      <p:font typeface="Inter Medium"/>
      <p:regular r:id="rId35"/>
      <p:bold r:id="rId36"/>
      <p:italic r:id="rId37"/>
      <p:boldItalic r:id="rId3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A0B1F3C7-7AD7-4E1C-BA2B-8894061F1AD7}">
  <a:tblStyle styleId="{A0B1F3C7-7AD7-4E1C-BA2B-8894061F1AD7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fill>
          <a:solidFill>
            <a:srgbClr val="CFD7E7"/>
          </a:solidFill>
        </a:fill>
      </a:tcStyle>
    </a:band1H>
    <a:band2H>
      <a:tcTxStyle/>
    </a:band2H>
    <a:band1V>
      <a:tcTxStyle/>
      <a:tcStyle>
        <a:fill>
          <a:solidFill>
            <a:srgbClr val="CFD7E7"/>
          </a:solidFill>
        </a:fill>
      </a:tcStyle>
    </a:band1V>
    <a:band2V>
      <a:tcTxStyle/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font" Target="fonts/InterSemiBold-bold.fntdata"/><Relationship Id="rId23" Type="http://schemas.openxmlformats.org/officeDocument/2006/relationships/font" Target="fonts/InterSemiBold-regular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font" Target="fonts/InterSemiBold-boldItalic.fntdata"/><Relationship Id="rId25" Type="http://schemas.openxmlformats.org/officeDocument/2006/relationships/font" Target="fonts/InterSemiBold-italic.fntdata"/><Relationship Id="rId28" Type="http://schemas.openxmlformats.org/officeDocument/2006/relationships/font" Target="fonts/PlayfairDisplay-bold.fntdata"/><Relationship Id="rId27" Type="http://schemas.openxmlformats.org/officeDocument/2006/relationships/font" Target="fonts/PlayfairDisplay-regular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font" Target="fonts/PlayfairDisplay-italic.fntdata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font" Target="fonts/Inter-regular.fntdata"/><Relationship Id="rId30" Type="http://schemas.openxmlformats.org/officeDocument/2006/relationships/font" Target="fonts/PlayfairDisplay-boldItalic.fntdata"/><Relationship Id="rId11" Type="http://schemas.openxmlformats.org/officeDocument/2006/relationships/slide" Target="slides/slide5.xml"/><Relationship Id="rId33" Type="http://schemas.openxmlformats.org/officeDocument/2006/relationships/font" Target="fonts/Inter-italic.fntdata"/><Relationship Id="rId10" Type="http://schemas.openxmlformats.org/officeDocument/2006/relationships/slide" Target="slides/slide4.xml"/><Relationship Id="rId32" Type="http://schemas.openxmlformats.org/officeDocument/2006/relationships/font" Target="fonts/Inter-bold.fntdata"/><Relationship Id="rId13" Type="http://schemas.openxmlformats.org/officeDocument/2006/relationships/slide" Target="slides/slide7.xml"/><Relationship Id="rId35" Type="http://schemas.openxmlformats.org/officeDocument/2006/relationships/font" Target="fonts/InterMedium-regular.fntdata"/><Relationship Id="rId12" Type="http://schemas.openxmlformats.org/officeDocument/2006/relationships/slide" Target="slides/slide6.xml"/><Relationship Id="rId34" Type="http://schemas.openxmlformats.org/officeDocument/2006/relationships/font" Target="fonts/Inter-boldItalic.fntdata"/><Relationship Id="rId15" Type="http://schemas.openxmlformats.org/officeDocument/2006/relationships/slide" Target="slides/slide9.xml"/><Relationship Id="rId37" Type="http://schemas.openxmlformats.org/officeDocument/2006/relationships/font" Target="fonts/InterMedium-italic.fntdata"/><Relationship Id="rId14" Type="http://schemas.openxmlformats.org/officeDocument/2006/relationships/slide" Target="slides/slide8.xml"/><Relationship Id="rId36" Type="http://schemas.openxmlformats.org/officeDocument/2006/relationships/font" Target="fonts/InterMedium-bold.fntdata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38" Type="http://schemas.openxmlformats.org/officeDocument/2006/relationships/font" Target="fonts/InterMedium-boldItalic.fntdata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" name="Google Shape;93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" name="Google Shape;133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" name="Google Shape;156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" name="Google Shape;179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0" name="Google Shape;200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9" name="Google Shape;219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6" name="Google Shape;236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5" name="Google Shape;255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4" name="Google Shape;274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5" name="Google Shape;285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5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7" name="Google Shape;307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0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2" name="Google Shape;332;p1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3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Google Shape;354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5" name="Google Shape;355;p1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4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Google Shape;365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6" name="Google Shape;366;p1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6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7.png"/><Relationship Id="rId4" Type="http://schemas.openxmlformats.org/officeDocument/2006/relationships/image" Target="../media/image52.png"/><Relationship Id="rId11" Type="http://schemas.openxmlformats.org/officeDocument/2006/relationships/image" Target="../media/image11.png"/><Relationship Id="rId10" Type="http://schemas.openxmlformats.org/officeDocument/2006/relationships/image" Target="../media/image30.png"/><Relationship Id="rId9" Type="http://schemas.openxmlformats.org/officeDocument/2006/relationships/image" Target="../media/image9.png"/><Relationship Id="rId5" Type="http://schemas.openxmlformats.org/officeDocument/2006/relationships/image" Target="../media/image5.png"/><Relationship Id="rId6" Type="http://schemas.openxmlformats.org/officeDocument/2006/relationships/image" Target="../media/image4.png"/><Relationship Id="rId7" Type="http://schemas.openxmlformats.org/officeDocument/2006/relationships/image" Target="../media/image18.png"/><Relationship Id="rId8" Type="http://schemas.openxmlformats.org/officeDocument/2006/relationships/image" Target="../media/image13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7.png"/><Relationship Id="rId4" Type="http://schemas.openxmlformats.org/officeDocument/2006/relationships/image" Target="../media/image1.png"/><Relationship Id="rId11" Type="http://schemas.openxmlformats.org/officeDocument/2006/relationships/image" Target="../media/image27.png"/><Relationship Id="rId10" Type="http://schemas.openxmlformats.org/officeDocument/2006/relationships/image" Target="../media/image55.png"/><Relationship Id="rId9" Type="http://schemas.openxmlformats.org/officeDocument/2006/relationships/image" Target="../media/image2.png"/><Relationship Id="rId5" Type="http://schemas.openxmlformats.org/officeDocument/2006/relationships/image" Target="../media/image3.png"/><Relationship Id="rId6" Type="http://schemas.openxmlformats.org/officeDocument/2006/relationships/image" Target="../media/image14.png"/><Relationship Id="rId7" Type="http://schemas.openxmlformats.org/officeDocument/2006/relationships/image" Target="../media/image10.png"/><Relationship Id="rId8" Type="http://schemas.openxmlformats.org/officeDocument/2006/relationships/image" Target="../media/image1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7.png"/><Relationship Id="rId4" Type="http://schemas.openxmlformats.org/officeDocument/2006/relationships/image" Target="../media/image17.png"/><Relationship Id="rId5" Type="http://schemas.openxmlformats.org/officeDocument/2006/relationships/image" Target="../media/image46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7.png"/><Relationship Id="rId4" Type="http://schemas.openxmlformats.org/officeDocument/2006/relationships/image" Target="../media/image53.png"/><Relationship Id="rId5" Type="http://schemas.openxmlformats.org/officeDocument/2006/relationships/image" Target="../media/image26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7.png"/><Relationship Id="rId4" Type="http://schemas.openxmlformats.org/officeDocument/2006/relationships/image" Target="../media/image31.png"/><Relationship Id="rId5" Type="http://schemas.openxmlformats.org/officeDocument/2006/relationships/image" Target="../media/image22.png"/><Relationship Id="rId6" Type="http://schemas.openxmlformats.org/officeDocument/2006/relationships/image" Target="../media/image24.png"/><Relationship Id="rId7" Type="http://schemas.openxmlformats.org/officeDocument/2006/relationships/image" Target="../media/image15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7.png"/><Relationship Id="rId4" Type="http://schemas.openxmlformats.org/officeDocument/2006/relationships/image" Target="../media/image20.png"/><Relationship Id="rId11" Type="http://schemas.openxmlformats.org/officeDocument/2006/relationships/image" Target="../media/image28.png"/><Relationship Id="rId10" Type="http://schemas.openxmlformats.org/officeDocument/2006/relationships/image" Target="../media/image25.png"/><Relationship Id="rId9" Type="http://schemas.openxmlformats.org/officeDocument/2006/relationships/image" Target="../media/image13.png"/><Relationship Id="rId5" Type="http://schemas.openxmlformats.org/officeDocument/2006/relationships/image" Target="../media/image5.png"/><Relationship Id="rId6" Type="http://schemas.openxmlformats.org/officeDocument/2006/relationships/image" Target="../media/image73.png"/><Relationship Id="rId7" Type="http://schemas.openxmlformats.org/officeDocument/2006/relationships/image" Target="../media/image23.png"/><Relationship Id="rId8" Type="http://schemas.openxmlformats.org/officeDocument/2006/relationships/image" Target="../media/image2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7.png"/><Relationship Id="rId4" Type="http://schemas.openxmlformats.org/officeDocument/2006/relationships/image" Target="../media/image49.png"/><Relationship Id="rId10" Type="http://schemas.openxmlformats.org/officeDocument/2006/relationships/image" Target="../media/image37.png"/><Relationship Id="rId9" Type="http://schemas.openxmlformats.org/officeDocument/2006/relationships/image" Target="../media/image33.png"/><Relationship Id="rId5" Type="http://schemas.openxmlformats.org/officeDocument/2006/relationships/image" Target="../media/image29.png"/><Relationship Id="rId6" Type="http://schemas.openxmlformats.org/officeDocument/2006/relationships/image" Target="../media/image54.png"/><Relationship Id="rId7" Type="http://schemas.openxmlformats.org/officeDocument/2006/relationships/image" Target="../media/image58.png"/><Relationship Id="rId8" Type="http://schemas.openxmlformats.org/officeDocument/2006/relationships/image" Target="../media/image2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7.png"/><Relationship Id="rId4" Type="http://schemas.openxmlformats.org/officeDocument/2006/relationships/image" Target="../media/image34.png"/><Relationship Id="rId11" Type="http://schemas.openxmlformats.org/officeDocument/2006/relationships/image" Target="../media/image38.png"/><Relationship Id="rId10" Type="http://schemas.openxmlformats.org/officeDocument/2006/relationships/image" Target="../media/image35.png"/><Relationship Id="rId9" Type="http://schemas.openxmlformats.org/officeDocument/2006/relationships/image" Target="../media/image39.png"/><Relationship Id="rId5" Type="http://schemas.openxmlformats.org/officeDocument/2006/relationships/image" Target="../media/image5.png"/><Relationship Id="rId6" Type="http://schemas.openxmlformats.org/officeDocument/2006/relationships/image" Target="../media/image36.png"/><Relationship Id="rId7" Type="http://schemas.openxmlformats.org/officeDocument/2006/relationships/image" Target="../media/image62.png"/><Relationship Id="rId8" Type="http://schemas.openxmlformats.org/officeDocument/2006/relationships/image" Target="../media/image43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7.png"/><Relationship Id="rId4" Type="http://schemas.openxmlformats.org/officeDocument/2006/relationships/image" Target="../media/image59.png"/><Relationship Id="rId11" Type="http://schemas.openxmlformats.org/officeDocument/2006/relationships/image" Target="../media/image41.png"/><Relationship Id="rId10" Type="http://schemas.openxmlformats.org/officeDocument/2006/relationships/image" Target="../media/image42.png"/><Relationship Id="rId9" Type="http://schemas.openxmlformats.org/officeDocument/2006/relationships/image" Target="../media/image67.png"/><Relationship Id="rId5" Type="http://schemas.openxmlformats.org/officeDocument/2006/relationships/image" Target="../media/image5.png"/><Relationship Id="rId6" Type="http://schemas.openxmlformats.org/officeDocument/2006/relationships/image" Target="../media/image40.png"/><Relationship Id="rId7" Type="http://schemas.openxmlformats.org/officeDocument/2006/relationships/image" Target="../media/image44.png"/><Relationship Id="rId8" Type="http://schemas.openxmlformats.org/officeDocument/2006/relationships/image" Target="../media/image47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7.png"/><Relationship Id="rId4" Type="http://schemas.openxmlformats.org/officeDocument/2006/relationships/image" Target="../media/image45.png"/><Relationship Id="rId5" Type="http://schemas.openxmlformats.org/officeDocument/2006/relationships/image" Target="../media/image48.png"/><Relationship Id="rId6" Type="http://schemas.openxmlformats.org/officeDocument/2006/relationships/image" Target="../media/image50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7.png"/><Relationship Id="rId4" Type="http://schemas.openxmlformats.org/officeDocument/2006/relationships/image" Target="../media/image51.png"/><Relationship Id="rId5" Type="http://schemas.openxmlformats.org/officeDocument/2006/relationships/image" Target="../media/image72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7.png"/><Relationship Id="rId4" Type="http://schemas.openxmlformats.org/officeDocument/2006/relationships/image" Target="../media/image64.png"/><Relationship Id="rId5" Type="http://schemas.openxmlformats.org/officeDocument/2006/relationships/image" Target="../media/image65.png"/><Relationship Id="rId6" Type="http://schemas.openxmlformats.org/officeDocument/2006/relationships/image" Target="../media/image68.png"/><Relationship Id="rId7" Type="http://schemas.openxmlformats.org/officeDocument/2006/relationships/image" Target="../media/image56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7.png"/><Relationship Id="rId4" Type="http://schemas.openxmlformats.org/officeDocument/2006/relationships/image" Target="../media/image66.png"/><Relationship Id="rId5" Type="http://schemas.openxmlformats.org/officeDocument/2006/relationships/image" Target="../media/image71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7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7.png"/><Relationship Id="rId4" Type="http://schemas.openxmlformats.org/officeDocument/2006/relationships/image" Target="../media/image57.png"/><Relationship Id="rId9" Type="http://schemas.openxmlformats.org/officeDocument/2006/relationships/image" Target="../media/image70.png"/><Relationship Id="rId5" Type="http://schemas.openxmlformats.org/officeDocument/2006/relationships/image" Target="../media/image69.png"/><Relationship Id="rId6" Type="http://schemas.openxmlformats.org/officeDocument/2006/relationships/image" Target="../media/image60.png"/><Relationship Id="rId7" Type="http://schemas.openxmlformats.org/officeDocument/2006/relationships/image" Target="../media/image61.png"/><Relationship Id="rId8" Type="http://schemas.openxmlformats.org/officeDocument/2006/relationships/image" Target="../media/image63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84" name="Google Shape;8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3"/>
          <p:cNvSpPr txBox="1"/>
          <p:nvPr/>
        </p:nvSpPr>
        <p:spPr>
          <a:xfrm>
            <a:off x="295275" y="2118419"/>
            <a:ext cx="11601450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2E4A62"/>
                </a:solidFill>
                <a:latin typeface="Inter"/>
                <a:ea typeface="Inter"/>
                <a:cs typeface="Inter"/>
                <a:sym typeface="Inter"/>
              </a:rPr>
              <a:t>RESEARCH DEFENSE PRESENTATION</a:t>
            </a:r>
            <a:endParaRPr/>
          </a:p>
        </p:txBody>
      </p:sp>
      <p:sp>
        <p:nvSpPr>
          <p:cNvPr id="86" name="Google Shape;86;p13"/>
          <p:cNvSpPr txBox="1"/>
          <p:nvPr/>
        </p:nvSpPr>
        <p:spPr>
          <a:xfrm>
            <a:off x="295275" y="2556569"/>
            <a:ext cx="11601450" cy="1095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498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750" u="none" cap="none" strike="noStrike">
                <a:solidFill>
                  <a:srgbClr val="4A2C2A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面向大学教学的 Graph-Enhanced RAG 与 Multi-Agent 智能平台研究</a:t>
            </a:r>
            <a:endParaRPr/>
          </a:p>
        </p:txBody>
      </p:sp>
      <p:sp>
        <p:nvSpPr>
          <p:cNvPr id="87" name="Google Shape;87;p13"/>
          <p:cNvSpPr/>
          <p:nvPr/>
        </p:nvSpPr>
        <p:spPr>
          <a:xfrm>
            <a:off x="5715000" y="3937694"/>
            <a:ext cx="762000" cy="38100"/>
          </a:xfrm>
          <a:prstGeom prst="rect">
            <a:avLst/>
          </a:prstGeom>
          <a:solidFill>
            <a:srgbClr val="4A2C2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13"/>
          <p:cNvSpPr txBox="1"/>
          <p:nvPr/>
        </p:nvSpPr>
        <p:spPr>
          <a:xfrm>
            <a:off x="571500" y="4261544"/>
            <a:ext cx="11049000" cy="335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1F1F1F"/>
                </a:solidFill>
                <a:latin typeface="Inter Medium"/>
                <a:ea typeface="Inter Medium"/>
                <a:cs typeface="Inter Medium"/>
                <a:sym typeface="Inter Medium"/>
              </a:rPr>
              <a:t>Highlight: GraphRAG 提供可追溯证据，Multi-Agent 提供复杂任务稳定协作。</a:t>
            </a:r>
            <a:endParaRPr/>
          </a:p>
        </p:txBody>
      </p:sp>
      <p:sp>
        <p:nvSpPr>
          <p:cNvPr id="89" name="Google Shape;89;p13"/>
          <p:cNvSpPr txBox="1"/>
          <p:nvPr/>
        </p:nvSpPr>
        <p:spPr>
          <a:xfrm>
            <a:off x="11449050" y="6286500"/>
            <a:ext cx="17145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A0AEC0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01</a:t>
            </a:r>
            <a:endParaRPr/>
          </a:p>
        </p:txBody>
      </p:sp>
      <p:sp>
        <p:nvSpPr>
          <p:cNvPr id="90" name="Google Shape;90;p13"/>
          <p:cNvSpPr txBox="1"/>
          <p:nvPr/>
        </p:nvSpPr>
        <p:spPr>
          <a:xfrm>
            <a:off x="0" y="6257925"/>
            <a:ext cx="12192000" cy="2190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275" u="none" cap="none" strike="noStrike">
                <a:solidFill>
                  <a:srgbClr val="4A2C2A"/>
                </a:solidFill>
                <a:latin typeface="Inter Medium"/>
                <a:ea typeface="Inter Medium"/>
                <a:cs typeface="Inter Medium"/>
                <a:sym typeface="Inter Medium"/>
              </a:rPr>
              <a:t> 本研究聚焦可信引用与协作稳定性的教学智能系统方法论。 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AF7"/>
        </a:solidFill>
      </p:bgPr>
    </p:bg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95" name="Google Shape;95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6" name="Google Shape;96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1323975"/>
            <a:ext cx="11049000" cy="4762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7" name="Google Shape;97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286500" y="2085975"/>
            <a:ext cx="5334000" cy="33337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8" name="Google Shape;98;p1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6105525"/>
            <a:ext cx="11049000" cy="371475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14"/>
          <p:cNvSpPr txBox="1"/>
          <p:nvPr/>
        </p:nvSpPr>
        <p:spPr>
          <a:xfrm>
            <a:off x="571500" y="295275"/>
            <a:ext cx="11049000" cy="742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50" u="none" cap="none" strike="noStrike">
                <a:solidFill>
                  <a:srgbClr val="2E4A62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BACKGROUND &amp; PAIN POINTS</a:t>
            </a:r>
            <a:r>
              <a:rPr b="1" i="0" lang="en-US" sz="2850" u="none" cap="none" strike="noStrike">
                <a:solidFill>
                  <a:srgbClr val="4A2C2A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 背景与核心痛点</a:t>
            </a:r>
            <a:endParaRPr/>
          </a:p>
        </p:txBody>
      </p:sp>
      <p:sp>
        <p:nvSpPr>
          <p:cNvPr id="100" name="Google Shape;100;p14"/>
          <p:cNvSpPr txBox="1"/>
          <p:nvPr/>
        </p:nvSpPr>
        <p:spPr>
          <a:xfrm>
            <a:off x="1095375" y="2085975"/>
            <a:ext cx="4810125" cy="5485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4A2C2A"/>
                </a:solidFill>
                <a:latin typeface="Inter"/>
                <a:ea typeface="Inter"/>
                <a:cs typeface="Inter"/>
                <a:sym typeface="Inter"/>
              </a:rPr>
              <a:t>生成幻觉与引用失真：</a:t>
            </a:r>
            <a:r>
              <a:rPr b="0" i="0" lang="en-US" sz="1350" u="none" cap="none" strike="noStrike">
                <a:solidFill>
                  <a:srgbClr val="1F1F1F"/>
                </a:solidFill>
                <a:latin typeface="Inter"/>
                <a:ea typeface="Inter"/>
                <a:cs typeface="Inter"/>
                <a:sym typeface="Inter"/>
              </a:rPr>
              <a:t> 通用模型无法对齐专业课件，导致学术答疑存在不可追溯的幻觉漏洞。</a:t>
            </a:r>
            <a:endParaRPr/>
          </a:p>
        </p:txBody>
      </p:sp>
      <p:sp>
        <p:nvSpPr>
          <p:cNvPr id="101" name="Google Shape;101;p14"/>
          <p:cNvSpPr txBox="1"/>
          <p:nvPr/>
        </p:nvSpPr>
        <p:spPr>
          <a:xfrm>
            <a:off x="1095375" y="2825055"/>
            <a:ext cx="4810125" cy="5485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4A2C2A"/>
                </a:solidFill>
                <a:latin typeface="Inter"/>
                <a:ea typeface="Inter"/>
                <a:cs typeface="Inter"/>
                <a:sym typeface="Inter"/>
              </a:rPr>
              <a:t>高并发与算力成本：</a:t>
            </a:r>
            <a:r>
              <a:rPr b="0" i="0" lang="en-US" sz="1350" u="none" cap="none" strike="noStrike">
                <a:solidFill>
                  <a:srgbClr val="1F1F1F"/>
                </a:solidFill>
                <a:latin typeface="Inter"/>
                <a:ea typeface="Inter"/>
                <a:cs typeface="Inter"/>
                <a:sym typeface="Inter"/>
              </a:rPr>
              <a:t> 强依赖云端导致校园网高峰极易瘫痪，且 API 调用成本随学生规模呈指数爆炸。</a:t>
            </a:r>
            <a:endParaRPr/>
          </a:p>
        </p:txBody>
      </p:sp>
      <p:sp>
        <p:nvSpPr>
          <p:cNvPr id="102" name="Google Shape;102;p14"/>
          <p:cNvSpPr txBox="1"/>
          <p:nvPr/>
        </p:nvSpPr>
        <p:spPr>
          <a:xfrm>
            <a:off x="1095375" y="3564135"/>
            <a:ext cx="4810125" cy="5485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4A2C2A"/>
                </a:solidFill>
                <a:latin typeface="Inter"/>
                <a:ea typeface="Inter"/>
                <a:cs typeface="Inter"/>
                <a:sym typeface="Inter"/>
              </a:rPr>
              <a:t>学情数据隐私危机：</a:t>
            </a:r>
            <a:r>
              <a:rPr b="0" i="0" lang="en-US" sz="1350" u="none" cap="none" strike="noStrike">
                <a:solidFill>
                  <a:srgbClr val="1F1F1F"/>
                </a:solidFill>
                <a:latin typeface="Inter"/>
                <a:ea typeface="Inter"/>
                <a:cs typeface="Inter"/>
                <a:sym typeface="Inter"/>
              </a:rPr>
              <a:t> 学生的代码实验与个人行为序列长传至第三方公有云，存在严重的数据泄露与违约风险。</a:t>
            </a:r>
            <a:endParaRPr/>
          </a:p>
        </p:txBody>
      </p:sp>
      <p:sp>
        <p:nvSpPr>
          <p:cNvPr id="103" name="Google Shape;103;p14"/>
          <p:cNvSpPr txBox="1"/>
          <p:nvPr/>
        </p:nvSpPr>
        <p:spPr>
          <a:xfrm>
            <a:off x="1095375" y="4303216"/>
            <a:ext cx="4810125" cy="5485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4A2C2A"/>
                </a:solidFill>
                <a:latin typeface="Inter"/>
                <a:ea typeface="Inter"/>
                <a:cs typeface="Inter"/>
                <a:sym typeface="Inter"/>
              </a:rPr>
              <a:t>高校知识产权(IP)外流：</a:t>
            </a:r>
            <a:r>
              <a:rPr b="0" i="0" lang="en-US" sz="1350" u="none" cap="none" strike="noStrike">
                <a:solidFill>
                  <a:srgbClr val="1F1F1F"/>
                </a:solidFill>
                <a:latin typeface="Inter"/>
                <a:ea typeface="Inter"/>
                <a:cs typeface="Inter"/>
                <a:sym typeface="Inter"/>
              </a:rPr>
              <a:t> 核心教案、未发表科研成果直接喂给闭源大模型，面临数字资产被“洗稿”的致命隐患。</a:t>
            </a:r>
            <a:endParaRPr/>
          </a:p>
        </p:txBody>
      </p:sp>
      <p:pic>
        <p:nvPicPr>
          <p:cNvPr descr="image.png" id="104" name="Google Shape;104;p1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296025" y="2095500"/>
            <a:ext cx="5314950" cy="33147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5" name="Google Shape;105;p14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762000" y="2119312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6" name="Google Shape;106;p14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762000" y="2858392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7" name="Google Shape;107;p14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762000" y="3597473"/>
            <a:ext cx="238125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8" name="Google Shape;108;p14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762000" y="4336553"/>
            <a:ext cx="190500" cy="200025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14"/>
          <p:cNvSpPr txBox="1"/>
          <p:nvPr/>
        </p:nvSpPr>
        <p:spPr>
          <a:xfrm>
            <a:off x="11420475" y="6286500"/>
            <a:ext cx="200025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A0AEC0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02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AF7"/>
        </a:solidFill>
      </p:bgPr>
    </p:bg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14" name="Google Shape;114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5" name="Google Shape;115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1600200"/>
            <a:ext cx="11049000" cy="4762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6" name="Google Shape;116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2362200"/>
            <a:ext cx="3492549" cy="254689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7" name="Google Shape;117;p1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349799" y="2362200"/>
            <a:ext cx="3492549" cy="254689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8" name="Google Shape;118;p1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128099" y="2362200"/>
            <a:ext cx="3492549" cy="254689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9" name="Google Shape;119;p15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71500" y="6105525"/>
            <a:ext cx="11049000" cy="371475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p15"/>
          <p:cNvSpPr txBox="1"/>
          <p:nvPr/>
        </p:nvSpPr>
        <p:spPr>
          <a:xfrm>
            <a:off x="571500" y="571500"/>
            <a:ext cx="11049000" cy="742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50" u="none" cap="none" strike="noStrike">
                <a:solidFill>
                  <a:srgbClr val="2E4A62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RESEARCH CHALLENGES</a:t>
            </a:r>
            <a:r>
              <a:rPr b="1" i="0" lang="en-US" sz="2850" u="none" cap="none" strike="noStrike">
                <a:solidFill>
                  <a:srgbClr val="4A2C2A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 核心研究挑战</a:t>
            </a:r>
            <a:endParaRPr/>
          </a:p>
        </p:txBody>
      </p:sp>
      <p:sp>
        <p:nvSpPr>
          <p:cNvPr id="121" name="Google Shape;121;p15"/>
          <p:cNvSpPr txBox="1"/>
          <p:nvPr/>
        </p:nvSpPr>
        <p:spPr>
          <a:xfrm>
            <a:off x="866775" y="3171825"/>
            <a:ext cx="3047099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50" u="none" cap="none" strike="noStrike">
                <a:solidFill>
                  <a:srgbClr val="4A2C2A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1. 结构化逻辑依赖</a:t>
            </a:r>
            <a:endParaRPr/>
          </a:p>
        </p:txBody>
      </p:sp>
      <p:sp>
        <p:nvSpPr>
          <p:cNvPr id="122" name="Google Shape;122;p15"/>
          <p:cNvSpPr txBox="1"/>
          <p:nvPr/>
        </p:nvSpPr>
        <p:spPr>
          <a:xfrm>
            <a:off x="866775" y="3648075"/>
            <a:ext cx="2901999" cy="8228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1F1F1F"/>
                </a:solidFill>
                <a:latin typeface="Inter"/>
                <a:ea typeface="Inter"/>
                <a:cs typeface="Inter"/>
                <a:sym typeface="Inter"/>
              </a:rPr>
              <a:t>学术知识不仅是文本，更是网络。跨章节的依赖关系（如公式起源）普通向量模型无法捕获。</a:t>
            </a:r>
            <a:endParaRPr/>
          </a:p>
        </p:txBody>
      </p:sp>
      <p:sp>
        <p:nvSpPr>
          <p:cNvPr id="123" name="Google Shape;123;p15"/>
          <p:cNvSpPr txBox="1"/>
          <p:nvPr/>
        </p:nvSpPr>
        <p:spPr>
          <a:xfrm>
            <a:off x="4645074" y="3171825"/>
            <a:ext cx="3047099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50" u="none" cap="none" strike="noStrike">
                <a:solidFill>
                  <a:srgbClr val="4A2C2A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2. 引用对齐与一致性</a:t>
            </a:r>
            <a:endParaRPr/>
          </a:p>
        </p:txBody>
      </p:sp>
      <p:sp>
        <p:nvSpPr>
          <p:cNvPr id="124" name="Google Shape;124;p15"/>
          <p:cNvSpPr txBox="1"/>
          <p:nvPr/>
        </p:nvSpPr>
        <p:spPr>
          <a:xfrm>
            <a:off x="4645074" y="3648075"/>
            <a:ext cx="2901999" cy="8228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1F1F1F"/>
                </a:solidFill>
                <a:latin typeface="Inter"/>
                <a:ea typeface="Inter"/>
                <a:cs typeface="Inter"/>
                <a:sym typeface="Inter"/>
              </a:rPr>
              <a:t>LLM 生成的答案与检索到的教材原文往往存在断层，无法保证严格的逻辑闭环一致性。</a:t>
            </a:r>
            <a:endParaRPr/>
          </a:p>
        </p:txBody>
      </p:sp>
      <p:sp>
        <p:nvSpPr>
          <p:cNvPr id="125" name="Google Shape;125;p15"/>
          <p:cNvSpPr txBox="1"/>
          <p:nvPr/>
        </p:nvSpPr>
        <p:spPr>
          <a:xfrm>
            <a:off x="8423374" y="3171825"/>
            <a:ext cx="3047099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50" u="none" cap="none" strike="noStrike">
                <a:solidFill>
                  <a:srgbClr val="4A2C2A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3. 成本、隐私与延迟</a:t>
            </a:r>
            <a:endParaRPr/>
          </a:p>
        </p:txBody>
      </p:sp>
      <p:sp>
        <p:nvSpPr>
          <p:cNvPr id="126" name="Google Shape;126;p15"/>
          <p:cNvSpPr txBox="1"/>
          <p:nvPr/>
        </p:nvSpPr>
        <p:spPr>
          <a:xfrm>
            <a:off x="8423374" y="3648075"/>
            <a:ext cx="2901999" cy="8228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1F1F1F"/>
                </a:solidFill>
                <a:latin typeface="Inter"/>
                <a:ea typeface="Inter"/>
                <a:cs typeface="Inter"/>
                <a:sym typeface="Inter"/>
              </a:rPr>
              <a:t>全依赖云端大模型导致算力账单爆炸，且校园高并发环境下系统可用性与延迟极度恶化。</a:t>
            </a:r>
            <a:endParaRPr/>
          </a:p>
        </p:txBody>
      </p:sp>
      <p:pic>
        <p:nvPicPr>
          <p:cNvPr descr="image.png" id="127" name="Google Shape;127;p15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866775" y="2686050"/>
            <a:ext cx="381000" cy="3048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8" name="Google Shape;128;p15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4645074" y="2686050"/>
            <a:ext cx="304800" cy="3048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9" name="Google Shape;129;p15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8423374" y="2686050"/>
            <a:ext cx="381000" cy="304800"/>
          </a:xfrm>
          <a:prstGeom prst="rect">
            <a:avLst/>
          </a:prstGeom>
          <a:noFill/>
          <a:ln>
            <a:noFill/>
          </a:ln>
        </p:spPr>
      </p:pic>
      <p:sp>
        <p:nvSpPr>
          <p:cNvPr id="130" name="Google Shape;130;p15"/>
          <p:cNvSpPr txBox="1"/>
          <p:nvPr/>
        </p:nvSpPr>
        <p:spPr>
          <a:xfrm>
            <a:off x="11420475" y="6286500"/>
            <a:ext cx="200025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A0AEC0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03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AF7"/>
        </a:solidFill>
      </p:bgPr>
    </p:bg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35" name="Google Shape;135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6" name="Google Shape;136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1412676"/>
            <a:ext cx="11049000" cy="4762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7" name="Google Shape;137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6105525"/>
            <a:ext cx="11049000" cy="371475"/>
          </a:xfrm>
          <a:prstGeom prst="rect">
            <a:avLst/>
          </a:prstGeom>
          <a:noFill/>
          <a:ln>
            <a:noFill/>
          </a:ln>
        </p:spPr>
      </p:pic>
      <p:sp>
        <p:nvSpPr>
          <p:cNvPr id="138" name="Google Shape;138;p16"/>
          <p:cNvSpPr txBox="1"/>
          <p:nvPr/>
        </p:nvSpPr>
        <p:spPr>
          <a:xfrm>
            <a:off x="571500" y="383976"/>
            <a:ext cx="11049000" cy="742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50" u="none" cap="none" strike="noStrike">
                <a:solidFill>
                  <a:srgbClr val="2E4A62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RQ &amp; HYPOTHESIS</a:t>
            </a:r>
            <a:r>
              <a:rPr b="1" i="0" lang="en-US" sz="2850" u="none" cap="none" strike="noStrike">
                <a:solidFill>
                  <a:srgbClr val="4A2C2A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 研究问题与假设映射</a:t>
            </a:r>
            <a:endParaRPr/>
          </a:p>
        </p:txBody>
      </p:sp>
      <p:sp>
        <p:nvSpPr>
          <p:cNvPr id="139" name="Google Shape;139;p16"/>
          <p:cNvSpPr/>
          <p:nvPr/>
        </p:nvSpPr>
        <p:spPr>
          <a:xfrm>
            <a:off x="571500" y="2174676"/>
            <a:ext cx="11049000" cy="3156346"/>
          </a:xfrm>
          <a:prstGeom prst="roundRect">
            <a:avLst>
              <a:gd fmla="val 0" name="adj"/>
            </a:avLst>
          </a:prstGeom>
          <a:solidFill>
            <a:srgbClr val="FFFFFF"/>
          </a:solidFill>
          <a:ln cap="flat" cmpd="sng" w="9525">
            <a:solidFill>
              <a:srgbClr val="4A7DB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40" name="Google Shape;140;p16"/>
          <p:cNvGraphicFramePr/>
          <p:nvPr/>
        </p:nvGraphicFramePr>
        <p:xfrm>
          <a:off x="571500" y="2174676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{A0B1F3C7-7AD7-4E1C-BA2B-8894061F1AD7}</a:tableStyleId>
              </a:tblPr>
              <a:tblGrid>
                <a:gridCol w="2759875"/>
                <a:gridCol w="5519725"/>
                <a:gridCol w="2759875"/>
              </a:tblGrid>
              <a:tr h="7890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4A2C2A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研究问题 (RQ)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4A2C2A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具体假设 (Hypothesis)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4A2C2A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评估指标 (Metrics)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FAFC"/>
                    </a:solidFill>
                  </a:tcPr>
                </a:tc>
              </a:tr>
              <a:tr h="7890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 cap="none" strike="noStrike">
                          <a:solidFill>
                            <a:srgbClr val="1F1F1F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RQ1: 知识溯源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1F1F1F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GraphRAG 相较于传统 RAG，能否显著提升跨域证据的覆盖率并减少断层？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1F1F1F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Recall@k, MRR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7890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 cap="none" strike="noStrike">
                          <a:solidFill>
                            <a:srgbClr val="1F1F1F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RQ2: 复杂任务编排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1F1F1F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Multi-Agent 仲裁网络能否系统性降低高难度推导任务的教育幻觉率？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1F1F1F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Citation Accuracy, Hallucination Rate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7891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 cap="none" strike="noStrike">
                          <a:solidFill>
                            <a:srgbClr val="1F1F1F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RQ3: 端云算力路由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1F1F1F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基于软硬协同的约束路由，能否有效推进全局成本与推理延迟的 Pareto 前沿？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1F1F1F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P95 Latency, Cost/Req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41" name="Google Shape;141;p16"/>
          <p:cNvSpPr/>
          <p:nvPr/>
        </p:nvSpPr>
        <p:spPr>
          <a:xfrm>
            <a:off x="576262" y="2728019"/>
            <a:ext cx="2759868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16"/>
          <p:cNvSpPr/>
          <p:nvPr/>
        </p:nvSpPr>
        <p:spPr>
          <a:xfrm>
            <a:off x="3336131" y="2728019"/>
            <a:ext cx="5519737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16"/>
          <p:cNvSpPr/>
          <p:nvPr/>
        </p:nvSpPr>
        <p:spPr>
          <a:xfrm>
            <a:off x="8855868" y="2728019"/>
            <a:ext cx="2759868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16"/>
          <p:cNvSpPr/>
          <p:nvPr/>
        </p:nvSpPr>
        <p:spPr>
          <a:xfrm>
            <a:off x="576262" y="3590925"/>
            <a:ext cx="2759868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16"/>
          <p:cNvSpPr/>
          <p:nvPr/>
        </p:nvSpPr>
        <p:spPr>
          <a:xfrm>
            <a:off x="3336131" y="3590925"/>
            <a:ext cx="5519737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16"/>
          <p:cNvSpPr/>
          <p:nvPr/>
        </p:nvSpPr>
        <p:spPr>
          <a:xfrm>
            <a:off x="8855868" y="3590925"/>
            <a:ext cx="2759868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16"/>
          <p:cNvSpPr/>
          <p:nvPr/>
        </p:nvSpPr>
        <p:spPr>
          <a:xfrm>
            <a:off x="576262" y="4453830"/>
            <a:ext cx="2759868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16"/>
          <p:cNvSpPr/>
          <p:nvPr/>
        </p:nvSpPr>
        <p:spPr>
          <a:xfrm>
            <a:off x="3336131" y="4453830"/>
            <a:ext cx="5519737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16"/>
          <p:cNvSpPr/>
          <p:nvPr/>
        </p:nvSpPr>
        <p:spPr>
          <a:xfrm>
            <a:off x="8855868" y="4453830"/>
            <a:ext cx="2759868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16"/>
          <p:cNvSpPr/>
          <p:nvPr/>
        </p:nvSpPr>
        <p:spPr>
          <a:xfrm>
            <a:off x="576262" y="5316735"/>
            <a:ext cx="2759868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16"/>
          <p:cNvSpPr/>
          <p:nvPr/>
        </p:nvSpPr>
        <p:spPr>
          <a:xfrm>
            <a:off x="3336131" y="5316735"/>
            <a:ext cx="5519737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16"/>
          <p:cNvSpPr/>
          <p:nvPr/>
        </p:nvSpPr>
        <p:spPr>
          <a:xfrm>
            <a:off x="8855868" y="5316735"/>
            <a:ext cx="2759868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16"/>
          <p:cNvSpPr txBox="1"/>
          <p:nvPr/>
        </p:nvSpPr>
        <p:spPr>
          <a:xfrm>
            <a:off x="11410950" y="6286500"/>
            <a:ext cx="20955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A0AEC0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04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AF7"/>
        </a:solidFill>
      </p:bgPr>
    </p:bg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58" name="Google Shape;158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9" name="Google Shape;159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1412676"/>
            <a:ext cx="11049000" cy="4762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0" name="Google Shape;160;p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6105525"/>
            <a:ext cx="11049000" cy="371475"/>
          </a:xfrm>
          <a:prstGeom prst="rect">
            <a:avLst/>
          </a:prstGeom>
          <a:noFill/>
          <a:ln>
            <a:noFill/>
          </a:ln>
        </p:spPr>
      </p:pic>
      <p:sp>
        <p:nvSpPr>
          <p:cNvPr id="161" name="Google Shape;161;p17"/>
          <p:cNvSpPr txBox="1"/>
          <p:nvPr/>
        </p:nvSpPr>
        <p:spPr>
          <a:xfrm>
            <a:off x="571500" y="383976"/>
            <a:ext cx="11049000" cy="742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50" u="none" cap="none" strike="noStrike">
                <a:solidFill>
                  <a:srgbClr val="2E4A62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CORE CONTRIBUTIONS</a:t>
            </a:r>
            <a:r>
              <a:rPr b="1" i="0" lang="en-US" sz="2850" u="none" cap="none" strike="noStrike">
                <a:solidFill>
                  <a:srgbClr val="4A2C2A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 核心贡献与创新点</a:t>
            </a:r>
            <a:endParaRPr/>
          </a:p>
        </p:txBody>
      </p:sp>
      <p:sp>
        <p:nvSpPr>
          <p:cNvPr id="162" name="Google Shape;162;p17"/>
          <p:cNvSpPr/>
          <p:nvPr/>
        </p:nvSpPr>
        <p:spPr>
          <a:xfrm>
            <a:off x="571500" y="2174676"/>
            <a:ext cx="11049000" cy="3156346"/>
          </a:xfrm>
          <a:prstGeom prst="roundRect">
            <a:avLst>
              <a:gd fmla="val 0" name="adj"/>
            </a:avLst>
          </a:prstGeom>
          <a:solidFill>
            <a:srgbClr val="FFFFFF"/>
          </a:solidFill>
          <a:ln cap="flat" cmpd="sng" w="9525">
            <a:solidFill>
              <a:srgbClr val="4A7DB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63" name="Google Shape;163;p17"/>
          <p:cNvGraphicFramePr/>
          <p:nvPr/>
        </p:nvGraphicFramePr>
        <p:xfrm>
          <a:off x="571500" y="2174676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{A0B1F3C7-7AD7-4E1C-BA2B-8894061F1AD7}</a:tableStyleId>
              </a:tblPr>
              <a:tblGrid>
                <a:gridCol w="3643025"/>
                <a:gridCol w="3643025"/>
                <a:gridCol w="3753450"/>
              </a:tblGrid>
              <a:tr h="7890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4A2C2A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系统创新模块 (Innovation)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4A2C2A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解决的学术痛点 (Solved Pain)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4A2C2A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可量化收益 (Measurable Gain)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FAFC"/>
                    </a:solidFill>
                  </a:tcPr>
                </a:tc>
              </a:tr>
              <a:tr h="7890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 cap="none" strike="noStrike">
                          <a:solidFill>
                            <a:srgbClr val="1F1F1F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A. Hybrid GraphRAG</a:t>
                      </a:r>
                      <a:br>
                        <a:rPr lang="en-US" sz="18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</a:br>
                      <a:br>
                        <a:rPr b="0" i="0" lang="en-US" sz="1350" u="none" cap="none" strike="noStrike">
                          <a:solidFill>
                            <a:srgbClr val="1F1F1F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</a:br>
                      <a:r>
                        <a:rPr b="0" i="0" lang="en-US" sz="1350" u="none" cap="none" strike="noStrike">
                          <a:solidFill>
                            <a:srgbClr val="1F1F1F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         种子向量 + k-hop 图扩展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1F1F1F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单模态匹配失败，缺乏复杂知识间的网络因果关系。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1F1F1F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提升 nDCG 检索精度与最终回复的 Groundedness (可信度)。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7890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 cap="none" strike="noStrike">
                          <a:solidFill>
                            <a:srgbClr val="1F1F1F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B. Multi-Agent Orchestration</a:t>
                      </a:r>
                      <a:br>
                        <a:rPr lang="en-US" sz="18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</a:br>
                      <a:br>
                        <a:rPr b="0" i="0" lang="en-US" sz="1350" u="none" cap="none" strike="noStrike">
                          <a:solidFill>
                            <a:srgbClr val="1F1F1F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</a:br>
                      <a:r>
                        <a:rPr b="0" i="0" lang="en-US" sz="1350" u="none" cap="none" strike="noStrike">
                          <a:solidFill>
                            <a:srgbClr val="1F1F1F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         集成 Planner 与 Verifier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1F1F1F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单一大模型生成步骤失控，引发灾难性学术幻觉。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1F1F1F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降低方差，提升复杂连串推理步骤的一致性成功率。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7891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 cap="none" strike="noStrike">
                          <a:solidFill>
                            <a:srgbClr val="1F1F1F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C. Constraint-Aware Routing</a:t>
                      </a:r>
                      <a:br>
                        <a:rPr lang="en-US" sz="18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</a:br>
                      <a:br>
                        <a:rPr b="0" i="0" lang="en-US" sz="1350" u="none" cap="none" strike="noStrike">
                          <a:solidFill>
                            <a:srgbClr val="1F1F1F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</a:br>
                      <a:r>
                        <a:rPr b="0" i="0" lang="en-US" sz="1350" u="none" cap="none" strike="noStrike">
                          <a:solidFill>
                            <a:srgbClr val="1F1F1F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         基于 Rust 底层探针的路由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1F1F1F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教育机构引入通用大模型的资金成本与并发延迟瓶颈。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1F1F1F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构建边缘算力卸载模型，逼近极低成本/低延迟理论极值。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64" name="Google Shape;164;p17"/>
          <p:cNvSpPr/>
          <p:nvPr/>
        </p:nvSpPr>
        <p:spPr>
          <a:xfrm>
            <a:off x="576262" y="2728019"/>
            <a:ext cx="3643014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17"/>
          <p:cNvSpPr/>
          <p:nvPr/>
        </p:nvSpPr>
        <p:spPr>
          <a:xfrm>
            <a:off x="4219277" y="2728019"/>
            <a:ext cx="3643014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17"/>
          <p:cNvSpPr/>
          <p:nvPr/>
        </p:nvSpPr>
        <p:spPr>
          <a:xfrm>
            <a:off x="7862292" y="2728019"/>
            <a:ext cx="375344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17"/>
          <p:cNvSpPr/>
          <p:nvPr/>
        </p:nvSpPr>
        <p:spPr>
          <a:xfrm>
            <a:off x="576262" y="3590925"/>
            <a:ext cx="3643014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17"/>
          <p:cNvSpPr/>
          <p:nvPr/>
        </p:nvSpPr>
        <p:spPr>
          <a:xfrm>
            <a:off x="4219277" y="3590925"/>
            <a:ext cx="3643014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17"/>
          <p:cNvSpPr/>
          <p:nvPr/>
        </p:nvSpPr>
        <p:spPr>
          <a:xfrm>
            <a:off x="7862292" y="3590925"/>
            <a:ext cx="375344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17"/>
          <p:cNvSpPr/>
          <p:nvPr/>
        </p:nvSpPr>
        <p:spPr>
          <a:xfrm>
            <a:off x="576262" y="4453830"/>
            <a:ext cx="3643014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17"/>
          <p:cNvSpPr/>
          <p:nvPr/>
        </p:nvSpPr>
        <p:spPr>
          <a:xfrm>
            <a:off x="4219277" y="4453830"/>
            <a:ext cx="3643014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17"/>
          <p:cNvSpPr/>
          <p:nvPr/>
        </p:nvSpPr>
        <p:spPr>
          <a:xfrm>
            <a:off x="7862292" y="4453830"/>
            <a:ext cx="375344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17"/>
          <p:cNvSpPr/>
          <p:nvPr/>
        </p:nvSpPr>
        <p:spPr>
          <a:xfrm>
            <a:off x="576262" y="5316735"/>
            <a:ext cx="3643014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17"/>
          <p:cNvSpPr/>
          <p:nvPr/>
        </p:nvSpPr>
        <p:spPr>
          <a:xfrm>
            <a:off x="4219277" y="5316735"/>
            <a:ext cx="3643014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17"/>
          <p:cNvSpPr/>
          <p:nvPr/>
        </p:nvSpPr>
        <p:spPr>
          <a:xfrm>
            <a:off x="7862292" y="5316735"/>
            <a:ext cx="375344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17"/>
          <p:cNvSpPr txBox="1"/>
          <p:nvPr/>
        </p:nvSpPr>
        <p:spPr>
          <a:xfrm>
            <a:off x="11420475" y="6286500"/>
            <a:ext cx="200025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A0AEC0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05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AF7"/>
        </a:solidFill>
      </p:bgPr>
    </p:bg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81" name="Google Shape;181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2" name="Google Shape;182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1600200"/>
            <a:ext cx="11049000" cy="4762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3" name="Google Shape;183;p1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2362200"/>
            <a:ext cx="5334000" cy="211827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4" name="Google Shape;184;p1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286500" y="2362200"/>
            <a:ext cx="5334000" cy="211827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5" name="Google Shape;185;p18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71500" y="6105525"/>
            <a:ext cx="11049000" cy="371475"/>
          </a:xfrm>
          <a:prstGeom prst="rect">
            <a:avLst/>
          </a:prstGeom>
          <a:noFill/>
          <a:ln>
            <a:noFill/>
          </a:ln>
        </p:spPr>
      </p:pic>
      <p:sp>
        <p:nvSpPr>
          <p:cNvPr id="186" name="Google Shape;186;p18"/>
          <p:cNvSpPr txBox="1"/>
          <p:nvPr/>
        </p:nvSpPr>
        <p:spPr>
          <a:xfrm>
            <a:off x="571500" y="571500"/>
            <a:ext cx="11049000" cy="742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50" u="none" cap="none" strike="noStrike">
                <a:solidFill>
                  <a:srgbClr val="2E4A62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RELATED WORK &amp; GAPS</a:t>
            </a:r>
            <a:r>
              <a:rPr b="1" i="0" lang="en-US" sz="2850" u="none" cap="none" strike="noStrike">
                <a:solidFill>
                  <a:srgbClr val="4A2C2A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 相关工作与研究界限</a:t>
            </a:r>
            <a:endParaRPr/>
          </a:p>
        </p:txBody>
      </p:sp>
      <p:sp>
        <p:nvSpPr>
          <p:cNvPr id="187" name="Google Shape;187;p18"/>
          <p:cNvSpPr txBox="1"/>
          <p:nvPr/>
        </p:nvSpPr>
        <p:spPr>
          <a:xfrm>
            <a:off x="866775" y="2657475"/>
            <a:ext cx="4980622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50" u="none" cap="none" strike="noStrike">
                <a:solidFill>
                  <a:srgbClr val="4A2C2A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传统 RAG 框架的局限</a:t>
            </a:r>
            <a:endParaRPr/>
          </a:p>
        </p:txBody>
      </p:sp>
      <p:sp>
        <p:nvSpPr>
          <p:cNvPr id="188" name="Google Shape;188;p18"/>
          <p:cNvSpPr txBox="1"/>
          <p:nvPr/>
        </p:nvSpPr>
        <p:spPr>
          <a:xfrm>
            <a:off x="6581775" y="2657475"/>
            <a:ext cx="4980622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50" u="none" cap="none" strike="noStrike">
                <a:solidFill>
                  <a:srgbClr val="4A2C2A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纯云端 Agent 生态的短板</a:t>
            </a:r>
            <a:endParaRPr/>
          </a:p>
        </p:txBody>
      </p:sp>
      <p:sp>
        <p:nvSpPr>
          <p:cNvPr id="189" name="Google Shape;189;p18"/>
          <p:cNvSpPr txBox="1"/>
          <p:nvPr/>
        </p:nvSpPr>
        <p:spPr>
          <a:xfrm>
            <a:off x="962025" y="3132772"/>
            <a:ext cx="95250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1F1F1F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190" name="Google Shape;190;p18"/>
          <p:cNvSpPr txBox="1"/>
          <p:nvPr/>
        </p:nvSpPr>
        <p:spPr>
          <a:xfrm>
            <a:off x="1057275" y="3133725"/>
            <a:ext cx="4552950" cy="5485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525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1F1F1F"/>
                </a:solidFill>
                <a:latin typeface="Inter"/>
                <a:ea typeface="Inter"/>
                <a:cs typeface="Inter"/>
                <a:sym typeface="Inter"/>
              </a:rPr>
              <a:t>高度依赖 Chroma/FAISS 向量距离，忽略了学术文档天然的章节图谱。</a:t>
            </a:r>
            <a:endParaRPr/>
          </a:p>
        </p:txBody>
      </p:sp>
      <p:sp>
        <p:nvSpPr>
          <p:cNvPr id="191" name="Google Shape;191;p18"/>
          <p:cNvSpPr txBox="1"/>
          <p:nvPr/>
        </p:nvSpPr>
        <p:spPr>
          <a:xfrm>
            <a:off x="962025" y="3795652"/>
            <a:ext cx="95250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1F1F1F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192" name="Google Shape;192;p18"/>
          <p:cNvSpPr txBox="1"/>
          <p:nvPr/>
        </p:nvSpPr>
        <p:spPr>
          <a:xfrm>
            <a:off x="1057275" y="3796605"/>
            <a:ext cx="4552950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525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1F1F1F"/>
                </a:solidFill>
                <a:latin typeface="Inter"/>
                <a:ea typeface="Inter"/>
                <a:cs typeface="Inter"/>
                <a:sym typeface="Inter"/>
              </a:rPr>
              <a:t>对“对比 A 和 B 原理”这种多文档跳跃性查询存在天生盲区。</a:t>
            </a:r>
            <a:endParaRPr/>
          </a:p>
        </p:txBody>
      </p:sp>
      <p:sp>
        <p:nvSpPr>
          <p:cNvPr id="193" name="Google Shape;193;p18"/>
          <p:cNvSpPr txBox="1"/>
          <p:nvPr/>
        </p:nvSpPr>
        <p:spPr>
          <a:xfrm>
            <a:off x="6677025" y="3132772"/>
            <a:ext cx="95250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1F1F1F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194" name="Google Shape;194;p18"/>
          <p:cNvSpPr txBox="1"/>
          <p:nvPr/>
        </p:nvSpPr>
        <p:spPr>
          <a:xfrm>
            <a:off x="6772275" y="3133725"/>
            <a:ext cx="4552950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525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1F1F1F"/>
                </a:solidFill>
                <a:latin typeface="Inter"/>
                <a:ea typeface="Inter"/>
                <a:cs typeface="Inter"/>
                <a:sym typeface="Inter"/>
              </a:rPr>
              <a:t>LangChain/AutoGen 框架多关注云端调用闭环。</a:t>
            </a:r>
            <a:endParaRPr/>
          </a:p>
        </p:txBody>
      </p:sp>
      <p:sp>
        <p:nvSpPr>
          <p:cNvPr id="195" name="Google Shape;195;p18"/>
          <p:cNvSpPr txBox="1"/>
          <p:nvPr/>
        </p:nvSpPr>
        <p:spPr>
          <a:xfrm>
            <a:off x="6677025" y="3521362"/>
            <a:ext cx="95250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1F1F1F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196" name="Google Shape;196;p18"/>
          <p:cNvSpPr txBox="1"/>
          <p:nvPr/>
        </p:nvSpPr>
        <p:spPr>
          <a:xfrm>
            <a:off x="6772275" y="3522315"/>
            <a:ext cx="4552950" cy="5485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525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1F1F1F"/>
                </a:solidFill>
                <a:latin typeface="Inter"/>
                <a:ea typeface="Inter"/>
                <a:cs typeface="Inter"/>
                <a:sym typeface="Inter"/>
              </a:rPr>
              <a:t>严重忽略了落地大学公有云/私有化混合部署的高并发通信开销。</a:t>
            </a:r>
            <a:endParaRPr/>
          </a:p>
        </p:txBody>
      </p:sp>
      <p:sp>
        <p:nvSpPr>
          <p:cNvPr id="197" name="Google Shape;197;p18"/>
          <p:cNvSpPr txBox="1"/>
          <p:nvPr/>
        </p:nvSpPr>
        <p:spPr>
          <a:xfrm>
            <a:off x="11420475" y="6286500"/>
            <a:ext cx="200025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A0AEC0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06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AF7"/>
        </a:solidFill>
      </p:bgPr>
    </p:bg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02" name="Google Shape;202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3" name="Google Shape;203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1323975"/>
            <a:ext cx="11049000" cy="4762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4" name="Google Shape;204;p1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286500" y="2085975"/>
            <a:ext cx="5334000" cy="33337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5" name="Google Shape;205;p1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6105525"/>
            <a:ext cx="11049000" cy="371475"/>
          </a:xfrm>
          <a:prstGeom prst="rect">
            <a:avLst/>
          </a:prstGeom>
          <a:noFill/>
          <a:ln>
            <a:noFill/>
          </a:ln>
        </p:spPr>
      </p:pic>
      <p:sp>
        <p:nvSpPr>
          <p:cNvPr id="206" name="Google Shape;206;p19"/>
          <p:cNvSpPr txBox="1"/>
          <p:nvPr/>
        </p:nvSpPr>
        <p:spPr>
          <a:xfrm>
            <a:off x="571500" y="295275"/>
            <a:ext cx="11049000" cy="742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50" u="none" cap="none" strike="noStrike">
                <a:solidFill>
                  <a:srgbClr val="2E4A62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METHOD OVERVIEW</a:t>
            </a:r>
            <a:r>
              <a:rPr b="1" i="0" lang="en-US" sz="2850" u="none" cap="none" strike="noStrike">
                <a:solidFill>
                  <a:srgbClr val="4A2C2A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 方法与架构总览</a:t>
            </a:r>
            <a:endParaRPr/>
          </a:p>
        </p:txBody>
      </p:sp>
      <p:sp>
        <p:nvSpPr>
          <p:cNvPr id="207" name="Google Shape;207;p19"/>
          <p:cNvSpPr txBox="1"/>
          <p:nvPr/>
        </p:nvSpPr>
        <p:spPr>
          <a:xfrm>
            <a:off x="1095375" y="2085975"/>
            <a:ext cx="4810125" cy="5485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4A2C2A"/>
                </a:solidFill>
                <a:latin typeface="Inter"/>
                <a:ea typeface="Inter"/>
                <a:cs typeface="Inter"/>
                <a:sym typeface="Inter"/>
              </a:rPr>
              <a:t>端云约束路由：</a:t>
            </a:r>
            <a:r>
              <a:rPr b="0" i="0" lang="en-US" sz="1350" u="none" cap="none" strike="noStrike">
                <a:solidFill>
                  <a:srgbClr val="1F1F1F"/>
                </a:solidFill>
                <a:latin typeface="Inter"/>
                <a:ea typeface="Inter"/>
                <a:cs typeface="Inter"/>
                <a:sym typeface="Inter"/>
              </a:rPr>
              <a:t> 输入层接收学生问题后首选触发探测，将高复杂性的学术提问精准上抛云端。</a:t>
            </a:r>
            <a:endParaRPr/>
          </a:p>
        </p:txBody>
      </p:sp>
      <p:sp>
        <p:nvSpPr>
          <p:cNvPr id="208" name="Google Shape;208;p19"/>
          <p:cNvSpPr txBox="1"/>
          <p:nvPr/>
        </p:nvSpPr>
        <p:spPr>
          <a:xfrm>
            <a:off x="1095375" y="2825055"/>
            <a:ext cx="4810125" cy="5485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4A2C2A"/>
                </a:solidFill>
                <a:latin typeface="Inter"/>
                <a:ea typeface="Inter"/>
                <a:cs typeface="Inter"/>
                <a:sym typeface="Inter"/>
              </a:rPr>
              <a:t>智能中枢编排：</a:t>
            </a:r>
            <a:r>
              <a:rPr b="0" i="0" lang="en-US" sz="1350" u="none" cap="none" strike="noStrike">
                <a:solidFill>
                  <a:srgbClr val="1F1F1F"/>
                </a:solidFill>
                <a:latin typeface="Inter"/>
                <a:ea typeface="Inter"/>
                <a:cs typeface="Inter"/>
                <a:sym typeface="Inter"/>
              </a:rPr>
              <a:t> 云端采用 Multi-Agent Orchestrator 作为中枢，彻底分解任务并交由各个细分领域的专家进行处理。</a:t>
            </a:r>
            <a:endParaRPr/>
          </a:p>
        </p:txBody>
      </p:sp>
      <p:sp>
        <p:nvSpPr>
          <p:cNvPr id="209" name="Google Shape;209;p19"/>
          <p:cNvSpPr txBox="1"/>
          <p:nvPr/>
        </p:nvSpPr>
        <p:spPr>
          <a:xfrm>
            <a:off x="1095375" y="3564135"/>
            <a:ext cx="4810125" cy="5485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4A2C2A"/>
                </a:solidFill>
                <a:latin typeface="Inter"/>
                <a:ea typeface="Inter"/>
                <a:cs typeface="Inter"/>
                <a:sym typeface="Inter"/>
              </a:rPr>
              <a:t>底层引擎挂载：</a:t>
            </a:r>
            <a:r>
              <a:rPr b="0" i="0" lang="en-US" sz="1350" u="none" cap="none" strike="noStrike">
                <a:solidFill>
                  <a:srgbClr val="1F1F1F"/>
                </a:solidFill>
                <a:latin typeface="Inter"/>
                <a:ea typeface="Inter"/>
                <a:cs typeface="Inter"/>
                <a:sym typeface="Inter"/>
              </a:rPr>
              <a:t> Researcher Agent 负责挂载 GraphRAG-X 模块，真正打通知识图谱与向量库的壁垒。</a:t>
            </a:r>
            <a:endParaRPr/>
          </a:p>
        </p:txBody>
      </p:sp>
      <p:sp>
        <p:nvSpPr>
          <p:cNvPr id="210" name="Google Shape;210;p19"/>
          <p:cNvSpPr txBox="1"/>
          <p:nvPr/>
        </p:nvSpPr>
        <p:spPr>
          <a:xfrm>
            <a:off x="1095375" y="4303216"/>
            <a:ext cx="4810125" cy="5485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4A2C2A"/>
                </a:solidFill>
                <a:latin typeface="Inter"/>
                <a:ea typeface="Inter"/>
                <a:cs typeface="Inter"/>
                <a:sym typeface="Inter"/>
              </a:rPr>
              <a:t>最终融合输出：</a:t>
            </a:r>
            <a:r>
              <a:rPr b="0" i="0" lang="en-US" sz="1350" u="none" cap="none" strike="noStrike">
                <a:solidFill>
                  <a:srgbClr val="1F1F1F"/>
                </a:solidFill>
                <a:latin typeface="Inter"/>
                <a:ea typeface="Inter"/>
                <a:cs typeface="Inter"/>
                <a:sym typeface="Inter"/>
              </a:rPr>
              <a:t> 经过核验后，输出包含硬性学术引用的高质量回答。</a:t>
            </a:r>
            <a:endParaRPr/>
          </a:p>
        </p:txBody>
      </p:sp>
      <p:pic>
        <p:nvPicPr>
          <p:cNvPr descr="image.png" id="211" name="Google Shape;211;p19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296025" y="2095500"/>
            <a:ext cx="5314950" cy="33147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2" name="Google Shape;212;p19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762000" y="2119312"/>
            <a:ext cx="17145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3" name="Google Shape;213;p19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762000" y="2858392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4" name="Google Shape;214;p19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762000" y="3597473"/>
            <a:ext cx="17145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5" name="Google Shape;215;p19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762000" y="4336553"/>
            <a:ext cx="142875" cy="200025"/>
          </a:xfrm>
          <a:prstGeom prst="rect">
            <a:avLst/>
          </a:prstGeom>
          <a:noFill/>
          <a:ln>
            <a:noFill/>
          </a:ln>
        </p:spPr>
      </p:pic>
      <p:sp>
        <p:nvSpPr>
          <p:cNvPr id="216" name="Google Shape;216;p19"/>
          <p:cNvSpPr txBox="1"/>
          <p:nvPr/>
        </p:nvSpPr>
        <p:spPr>
          <a:xfrm>
            <a:off x="11430000" y="6286500"/>
            <a:ext cx="1905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A0AEC0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07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AF7"/>
        </a:solidFill>
      </p:bgPr>
    </p:bg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21" name="Google Shape;221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2" name="Google Shape;222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1323975"/>
            <a:ext cx="11049000" cy="4762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3" name="Google Shape;223;p2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810375" y="2085975"/>
            <a:ext cx="4286250" cy="33337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4" name="Google Shape;224;p2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6105525"/>
            <a:ext cx="11049000" cy="371475"/>
          </a:xfrm>
          <a:prstGeom prst="rect">
            <a:avLst/>
          </a:prstGeom>
          <a:noFill/>
          <a:ln>
            <a:noFill/>
          </a:ln>
        </p:spPr>
      </p:pic>
      <p:sp>
        <p:nvSpPr>
          <p:cNvPr id="225" name="Google Shape;225;p20"/>
          <p:cNvSpPr txBox="1"/>
          <p:nvPr/>
        </p:nvSpPr>
        <p:spPr>
          <a:xfrm>
            <a:off x="571500" y="295275"/>
            <a:ext cx="11049000" cy="742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50" u="none" cap="none" strike="noStrike">
                <a:solidFill>
                  <a:srgbClr val="2E4A62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KNOWLEDGE MODELING</a:t>
            </a:r>
            <a:r>
              <a:rPr b="1" i="0" lang="en-US" sz="2850" u="none" cap="none" strike="noStrike">
                <a:solidFill>
                  <a:srgbClr val="4A2C2A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 Hybrid GraphRAG: 知识建模</a:t>
            </a:r>
            <a:endParaRPr/>
          </a:p>
        </p:txBody>
      </p:sp>
      <p:sp>
        <p:nvSpPr>
          <p:cNvPr id="226" name="Google Shape;226;p20"/>
          <p:cNvSpPr txBox="1"/>
          <p:nvPr/>
        </p:nvSpPr>
        <p:spPr>
          <a:xfrm>
            <a:off x="1095375" y="2644229"/>
            <a:ext cx="4810125" cy="5485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4A2C2A"/>
                </a:solidFill>
                <a:latin typeface="Inter"/>
                <a:ea typeface="Inter"/>
                <a:cs typeface="Inter"/>
                <a:sym typeface="Inter"/>
              </a:rPr>
              <a:t>严谨图模式 Schema：</a:t>
            </a:r>
            <a:r>
              <a:rPr b="0" i="0" lang="en-US" sz="1350" u="none" cap="none" strike="noStrike">
                <a:solidFill>
                  <a:srgbClr val="1F1F1F"/>
                </a:solidFill>
                <a:latin typeface="Inter"/>
                <a:ea typeface="Inter"/>
                <a:cs typeface="Inter"/>
                <a:sym typeface="Inter"/>
              </a:rPr>
              <a:t> 定义了基础教学单元的图元体系（概念、定理、衍生、互斥）。</a:t>
            </a:r>
            <a:endParaRPr/>
          </a:p>
        </p:txBody>
      </p:sp>
      <p:sp>
        <p:nvSpPr>
          <p:cNvPr id="227" name="Google Shape;227;p20"/>
          <p:cNvSpPr txBox="1"/>
          <p:nvPr/>
        </p:nvSpPr>
        <p:spPr>
          <a:xfrm>
            <a:off x="1095375" y="3383309"/>
            <a:ext cx="4810125" cy="5485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4A2C2A"/>
                </a:solidFill>
                <a:latin typeface="Inter"/>
                <a:ea typeface="Inter"/>
                <a:cs typeface="Inter"/>
                <a:sym typeface="Inter"/>
              </a:rPr>
              <a:t>动态抽取构建流：</a:t>
            </a:r>
            <a:r>
              <a:rPr b="0" i="0" lang="en-US" sz="1350" u="none" cap="none" strike="noStrike">
                <a:solidFill>
                  <a:srgbClr val="1F1F1F"/>
                </a:solidFill>
                <a:latin typeface="Inter"/>
                <a:ea typeface="Inter"/>
                <a:cs typeface="Inter"/>
                <a:sym typeface="Inter"/>
              </a:rPr>
              <a:t> 采用无监督 LLM 扫描教材文本，实施 Entity Extraction（实体抽取）与 Relation Align（关系对齐）。</a:t>
            </a:r>
            <a:endParaRPr/>
          </a:p>
        </p:txBody>
      </p:sp>
      <p:sp>
        <p:nvSpPr>
          <p:cNvPr id="228" name="Google Shape;228;p20"/>
          <p:cNvSpPr txBox="1"/>
          <p:nvPr/>
        </p:nvSpPr>
        <p:spPr>
          <a:xfrm>
            <a:off x="1095375" y="4122390"/>
            <a:ext cx="4810125" cy="5485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4A2C2A"/>
                </a:solidFill>
                <a:latin typeface="Inter"/>
                <a:ea typeface="Inter"/>
                <a:cs typeface="Inter"/>
                <a:sym typeface="Inter"/>
              </a:rPr>
              <a:t>轻量级图库集成：</a:t>
            </a:r>
            <a:r>
              <a:rPr b="0" i="0" lang="en-US" sz="1350" u="none" cap="none" strike="noStrike">
                <a:solidFill>
                  <a:srgbClr val="1F1F1F"/>
                </a:solidFill>
                <a:latin typeface="Inter"/>
                <a:ea typeface="Inter"/>
                <a:cs typeface="Inter"/>
                <a:sym typeface="Inter"/>
              </a:rPr>
              <a:t> 设计双模接口，支持小型 NetworkX 内存图测试，并平滑演进至企业级 Neo4j 图数据库。</a:t>
            </a:r>
            <a:endParaRPr/>
          </a:p>
        </p:txBody>
      </p:sp>
      <p:pic>
        <p:nvPicPr>
          <p:cNvPr descr="image.png" id="229" name="Google Shape;229;p20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819900" y="2095500"/>
            <a:ext cx="4267200" cy="33147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30" name="Google Shape;230;p20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762000" y="2677566"/>
            <a:ext cx="17145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31" name="Google Shape;231;p20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762000" y="3416647"/>
            <a:ext cx="238125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32" name="Google Shape;232;p20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762000" y="4155727"/>
            <a:ext cx="219075" cy="200025"/>
          </a:xfrm>
          <a:prstGeom prst="rect">
            <a:avLst/>
          </a:prstGeom>
          <a:noFill/>
          <a:ln>
            <a:noFill/>
          </a:ln>
        </p:spPr>
      </p:pic>
      <p:sp>
        <p:nvSpPr>
          <p:cNvPr id="233" name="Google Shape;233;p20"/>
          <p:cNvSpPr txBox="1"/>
          <p:nvPr/>
        </p:nvSpPr>
        <p:spPr>
          <a:xfrm>
            <a:off x="11420475" y="6286500"/>
            <a:ext cx="200025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A0AEC0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08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AF7"/>
        </a:solidFill>
      </p:bgPr>
    </p:bg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38" name="Google Shape;238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39" name="Google Shape;239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1323975"/>
            <a:ext cx="11049000" cy="4762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40" name="Google Shape;240;p2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286500" y="2085975"/>
            <a:ext cx="5334000" cy="33337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41" name="Google Shape;241;p2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6105525"/>
            <a:ext cx="11049000" cy="371475"/>
          </a:xfrm>
          <a:prstGeom prst="rect">
            <a:avLst/>
          </a:prstGeom>
          <a:noFill/>
          <a:ln>
            <a:noFill/>
          </a:ln>
        </p:spPr>
      </p:pic>
      <p:sp>
        <p:nvSpPr>
          <p:cNvPr id="242" name="Google Shape;242;p21"/>
          <p:cNvSpPr txBox="1"/>
          <p:nvPr/>
        </p:nvSpPr>
        <p:spPr>
          <a:xfrm>
            <a:off x="571500" y="295275"/>
            <a:ext cx="11049000" cy="742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50" u="none" cap="none" strike="noStrike">
                <a:solidFill>
                  <a:srgbClr val="2E4A62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RETRIEVAL &amp; ALIGNMENT</a:t>
            </a:r>
            <a:r>
              <a:rPr b="1" i="0" lang="en-US" sz="2850" u="none" cap="none" strike="noStrike">
                <a:solidFill>
                  <a:srgbClr val="4A2C2A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 混合检索与引用溯源</a:t>
            </a:r>
            <a:endParaRPr/>
          </a:p>
        </p:txBody>
      </p:sp>
      <p:sp>
        <p:nvSpPr>
          <p:cNvPr id="243" name="Google Shape;243;p21"/>
          <p:cNvSpPr txBox="1"/>
          <p:nvPr/>
        </p:nvSpPr>
        <p:spPr>
          <a:xfrm>
            <a:off x="1095375" y="2085975"/>
            <a:ext cx="4810125" cy="5485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4A2C2A"/>
                </a:solidFill>
                <a:latin typeface="Inter"/>
                <a:ea typeface="Inter"/>
                <a:cs typeface="Inter"/>
                <a:sym typeface="Inter"/>
              </a:rPr>
              <a:t>语义向量捕获：</a:t>
            </a:r>
            <a:r>
              <a:rPr b="0" i="0" lang="en-US" sz="1350" u="none" cap="none" strike="noStrike">
                <a:solidFill>
                  <a:srgbClr val="1F1F1F"/>
                </a:solidFill>
                <a:latin typeface="Inter"/>
                <a:ea typeface="Inter"/>
                <a:cs typeface="Inter"/>
                <a:sym typeface="Inter"/>
              </a:rPr>
              <a:t> Vector 库通过 Embedding 迅速定位与 Query 最具强语义关联的种子节点 (Seed Entities)。</a:t>
            </a:r>
            <a:endParaRPr/>
          </a:p>
        </p:txBody>
      </p:sp>
      <p:sp>
        <p:nvSpPr>
          <p:cNvPr id="244" name="Google Shape;244;p21"/>
          <p:cNvSpPr txBox="1"/>
          <p:nvPr/>
        </p:nvSpPr>
        <p:spPr>
          <a:xfrm>
            <a:off x="1095375" y="2825055"/>
            <a:ext cx="4810125" cy="5485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4A2C2A"/>
                </a:solidFill>
                <a:latin typeface="Inter"/>
                <a:ea typeface="Inter"/>
                <a:cs typeface="Inter"/>
                <a:sym typeface="Inter"/>
              </a:rPr>
              <a:t>核心子图扩展：</a:t>
            </a:r>
            <a:r>
              <a:rPr b="0" i="0" lang="en-US" sz="1350" u="none" cap="none" strike="noStrike">
                <a:solidFill>
                  <a:srgbClr val="1F1F1F"/>
                </a:solidFill>
                <a:latin typeface="Inter"/>
                <a:ea typeface="Inter"/>
                <a:cs typeface="Inter"/>
                <a:sym typeface="Inter"/>
              </a:rPr>
              <a:t> 图谱执行 K-hop 的广度探索，沿边(Edges)提取隐藏属性，还原学术逻辑全貌。</a:t>
            </a:r>
            <a:endParaRPr/>
          </a:p>
        </p:txBody>
      </p:sp>
      <p:sp>
        <p:nvSpPr>
          <p:cNvPr id="245" name="Google Shape;245;p21"/>
          <p:cNvSpPr txBox="1"/>
          <p:nvPr/>
        </p:nvSpPr>
        <p:spPr>
          <a:xfrm>
            <a:off x="1095375" y="3564135"/>
            <a:ext cx="4810125" cy="5485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4A2C2A"/>
                </a:solidFill>
                <a:latin typeface="Inter"/>
                <a:ea typeface="Inter"/>
                <a:cs typeface="Inter"/>
                <a:sym typeface="Inter"/>
              </a:rPr>
              <a:t>深度分数融合：</a:t>
            </a:r>
            <a:r>
              <a:rPr b="0" i="0" lang="en-US" sz="1350" u="none" cap="none" strike="noStrike">
                <a:solidFill>
                  <a:srgbClr val="1F1F1F"/>
                </a:solidFill>
                <a:latin typeface="Inter"/>
                <a:ea typeface="Inter"/>
                <a:cs typeface="Inter"/>
                <a:sym typeface="Inter"/>
              </a:rPr>
              <a:t> 首创 RRF (倒数秩融合) 算法，彻底解决图得分与向量距离量纲不一致的难题。</a:t>
            </a:r>
            <a:endParaRPr/>
          </a:p>
        </p:txBody>
      </p:sp>
      <p:sp>
        <p:nvSpPr>
          <p:cNvPr id="246" name="Google Shape;246;p21"/>
          <p:cNvSpPr txBox="1"/>
          <p:nvPr/>
        </p:nvSpPr>
        <p:spPr>
          <a:xfrm>
            <a:off x="1095375" y="4303216"/>
            <a:ext cx="4810125" cy="5485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4A2C2A"/>
                </a:solidFill>
                <a:latin typeface="Inter"/>
                <a:ea typeface="Inter"/>
                <a:cs typeface="Inter"/>
                <a:sym typeface="Inter"/>
              </a:rPr>
              <a:t>重排截断控制：</a:t>
            </a:r>
            <a:r>
              <a:rPr b="0" i="0" lang="en-US" sz="1350" u="none" cap="none" strike="noStrike">
                <a:solidFill>
                  <a:srgbClr val="1F1F1F"/>
                </a:solidFill>
                <a:latin typeface="Inter"/>
                <a:ea typeface="Inter"/>
                <a:cs typeface="Inter"/>
                <a:sym typeface="Inter"/>
              </a:rPr>
              <a:t> BGE-Reranker 逆向排序过滤噪音，保障最终的证据切片纯净度。</a:t>
            </a:r>
            <a:endParaRPr/>
          </a:p>
        </p:txBody>
      </p:sp>
      <p:pic>
        <p:nvPicPr>
          <p:cNvPr descr="image.png" id="247" name="Google Shape;247;p21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296025" y="2095500"/>
            <a:ext cx="5314950" cy="33147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48" name="Google Shape;248;p21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762000" y="2119312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49" name="Google Shape;249;p21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762000" y="2858392"/>
            <a:ext cx="219075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50" name="Google Shape;250;p21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762000" y="3597473"/>
            <a:ext cx="17145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51" name="Google Shape;251;p21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762000" y="4336553"/>
            <a:ext cx="219075" cy="200025"/>
          </a:xfrm>
          <a:prstGeom prst="rect">
            <a:avLst/>
          </a:prstGeom>
          <a:noFill/>
          <a:ln>
            <a:noFill/>
          </a:ln>
        </p:spPr>
      </p:pic>
      <p:sp>
        <p:nvSpPr>
          <p:cNvPr id="252" name="Google Shape;252;p21"/>
          <p:cNvSpPr txBox="1"/>
          <p:nvPr/>
        </p:nvSpPr>
        <p:spPr>
          <a:xfrm>
            <a:off x="11420475" y="6286500"/>
            <a:ext cx="200025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A0AEC0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09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AF7"/>
        </a:solidFill>
      </p:bgPr>
    </p:bg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57" name="Google Shape;257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58" name="Google Shape;258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1323975"/>
            <a:ext cx="11049000" cy="4762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59" name="Google Shape;259;p2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286500" y="2085975"/>
            <a:ext cx="5334000" cy="33337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60" name="Google Shape;260;p2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6105525"/>
            <a:ext cx="11049000" cy="371475"/>
          </a:xfrm>
          <a:prstGeom prst="rect">
            <a:avLst/>
          </a:prstGeom>
          <a:noFill/>
          <a:ln>
            <a:noFill/>
          </a:ln>
        </p:spPr>
      </p:pic>
      <p:sp>
        <p:nvSpPr>
          <p:cNvPr id="261" name="Google Shape;261;p22"/>
          <p:cNvSpPr txBox="1"/>
          <p:nvPr/>
        </p:nvSpPr>
        <p:spPr>
          <a:xfrm>
            <a:off x="571500" y="295275"/>
            <a:ext cx="11049000" cy="742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50" u="none" cap="none" strike="noStrike">
                <a:solidFill>
                  <a:srgbClr val="2E4A62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AGENT ORCHESTRATION</a:t>
            </a:r>
            <a:r>
              <a:rPr b="1" i="0" lang="en-US" sz="2850" u="none" cap="none" strike="noStrike">
                <a:solidFill>
                  <a:srgbClr val="4A2C2A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 多智能体：仲裁与回退机制</a:t>
            </a:r>
            <a:endParaRPr/>
          </a:p>
        </p:txBody>
      </p:sp>
      <p:sp>
        <p:nvSpPr>
          <p:cNvPr id="262" name="Google Shape;262;p22"/>
          <p:cNvSpPr txBox="1"/>
          <p:nvPr/>
        </p:nvSpPr>
        <p:spPr>
          <a:xfrm>
            <a:off x="1095375" y="2085975"/>
            <a:ext cx="4810125" cy="5485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4A2C2A"/>
                </a:solidFill>
                <a:latin typeface="Inter"/>
                <a:ea typeface="Inter"/>
                <a:cs typeface="Inter"/>
                <a:sym typeface="Inter"/>
              </a:rPr>
              <a:t>任务深度分解：</a:t>
            </a:r>
            <a:r>
              <a:rPr b="0" i="0" lang="en-US" sz="1350" u="none" cap="none" strike="noStrike">
                <a:solidFill>
                  <a:srgbClr val="1F1F1F"/>
                </a:solidFill>
                <a:latin typeface="Inter"/>
                <a:ea typeface="Inter"/>
                <a:cs typeface="Inter"/>
                <a:sym typeface="Inter"/>
              </a:rPr>
              <a:t> Planner Agent 接收到复杂请求后，负责拆解多步并行推导流程图。</a:t>
            </a:r>
            <a:endParaRPr/>
          </a:p>
        </p:txBody>
      </p:sp>
      <p:sp>
        <p:nvSpPr>
          <p:cNvPr id="263" name="Google Shape;263;p22"/>
          <p:cNvSpPr txBox="1"/>
          <p:nvPr/>
        </p:nvSpPr>
        <p:spPr>
          <a:xfrm>
            <a:off x="1095375" y="2825055"/>
            <a:ext cx="4810125" cy="5485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4A2C2A"/>
                </a:solidFill>
                <a:latin typeface="Inter"/>
                <a:ea typeface="Inter"/>
                <a:cs typeface="Inter"/>
                <a:sym typeface="Inter"/>
              </a:rPr>
              <a:t>独立工具执行：</a:t>
            </a:r>
            <a:r>
              <a:rPr b="0" i="0" lang="en-US" sz="1350" u="none" cap="none" strike="noStrike">
                <a:solidFill>
                  <a:srgbClr val="1F1F1F"/>
                </a:solidFill>
                <a:latin typeface="Inter"/>
                <a:ea typeface="Inter"/>
                <a:cs typeface="Inter"/>
                <a:sym typeface="Inter"/>
              </a:rPr>
              <a:t> 各垂直 Executor 按需调用底层基建（如 Researcher 调用 GraphRAG 搜索证据）生成中间草案。</a:t>
            </a:r>
            <a:endParaRPr/>
          </a:p>
        </p:txBody>
      </p:sp>
      <p:sp>
        <p:nvSpPr>
          <p:cNvPr id="264" name="Google Shape;264;p22"/>
          <p:cNvSpPr txBox="1"/>
          <p:nvPr/>
        </p:nvSpPr>
        <p:spPr>
          <a:xfrm>
            <a:off x="1095375" y="3564135"/>
            <a:ext cx="4810125" cy="5485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4A2C2A"/>
                </a:solidFill>
                <a:latin typeface="Inter"/>
                <a:ea typeface="Inter"/>
                <a:cs typeface="Inter"/>
                <a:sym typeface="Inter"/>
              </a:rPr>
              <a:t>强力仲裁拦截：</a:t>
            </a:r>
            <a:r>
              <a:rPr b="0" i="0" lang="en-US" sz="1350" u="none" cap="none" strike="noStrike">
                <a:solidFill>
                  <a:srgbClr val="1F1F1F"/>
                </a:solidFill>
                <a:latin typeface="Inter"/>
                <a:ea typeface="Inter"/>
                <a:cs typeface="Inter"/>
                <a:sym typeface="Inter"/>
              </a:rPr>
              <a:t> 独创的 Verifier Agent 负责核验返回数据，事实不符或引用缺失立即执行熔断拦截。</a:t>
            </a:r>
            <a:endParaRPr/>
          </a:p>
        </p:txBody>
      </p:sp>
      <p:sp>
        <p:nvSpPr>
          <p:cNvPr id="265" name="Google Shape;265;p22"/>
          <p:cNvSpPr txBox="1"/>
          <p:nvPr/>
        </p:nvSpPr>
        <p:spPr>
          <a:xfrm>
            <a:off x="1095375" y="4303216"/>
            <a:ext cx="4810125" cy="5485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4A2C2A"/>
                </a:solidFill>
                <a:latin typeface="Inter"/>
                <a:ea typeface="Inter"/>
                <a:cs typeface="Inter"/>
                <a:sym typeface="Inter"/>
              </a:rPr>
              <a:t>闭环自愈回退：</a:t>
            </a:r>
            <a:r>
              <a:rPr b="0" i="0" lang="en-US" sz="1350" u="none" cap="none" strike="noStrike">
                <a:solidFill>
                  <a:srgbClr val="1F1F1F"/>
                </a:solidFill>
                <a:latin typeface="Inter"/>
                <a:ea typeface="Inter"/>
                <a:cs typeface="Inter"/>
                <a:sym typeface="Inter"/>
              </a:rPr>
              <a:t> 拦截后触发 Fallback (回退重试) 或调用补充工具，绝对杜绝“带病输出”。</a:t>
            </a:r>
            <a:endParaRPr/>
          </a:p>
        </p:txBody>
      </p:sp>
      <p:pic>
        <p:nvPicPr>
          <p:cNvPr descr="image.png" id="266" name="Google Shape;266;p22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296025" y="2095500"/>
            <a:ext cx="5314950" cy="33147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67" name="Google Shape;267;p22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762000" y="2119312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68" name="Google Shape;268;p22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762000" y="2858392"/>
            <a:ext cx="238125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69" name="Google Shape;269;p22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762000" y="3597473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70" name="Google Shape;270;p22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762000" y="4336553"/>
            <a:ext cx="190500" cy="200025"/>
          </a:xfrm>
          <a:prstGeom prst="rect">
            <a:avLst/>
          </a:prstGeom>
          <a:noFill/>
          <a:ln>
            <a:noFill/>
          </a:ln>
        </p:spPr>
      </p:pic>
      <p:sp>
        <p:nvSpPr>
          <p:cNvPr id="271" name="Google Shape;271;p22"/>
          <p:cNvSpPr txBox="1"/>
          <p:nvPr/>
        </p:nvSpPr>
        <p:spPr>
          <a:xfrm>
            <a:off x="11449050" y="6286500"/>
            <a:ext cx="17145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A0AEC0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10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AF7"/>
        </a:solidFill>
      </p:bgPr>
    </p:bg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76" name="Google Shape;276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77" name="Google Shape;277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1600200"/>
            <a:ext cx="11049000" cy="4762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78" name="Google Shape;278;p2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1600200"/>
            <a:ext cx="11049000" cy="46863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79" name="Google Shape;279;p2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6105525"/>
            <a:ext cx="11049000" cy="371475"/>
          </a:xfrm>
          <a:prstGeom prst="rect">
            <a:avLst/>
          </a:prstGeom>
          <a:noFill/>
          <a:ln>
            <a:noFill/>
          </a:ln>
        </p:spPr>
      </p:pic>
      <p:sp>
        <p:nvSpPr>
          <p:cNvPr id="280" name="Google Shape;280;p23"/>
          <p:cNvSpPr txBox="1"/>
          <p:nvPr/>
        </p:nvSpPr>
        <p:spPr>
          <a:xfrm>
            <a:off x="571500" y="571500"/>
            <a:ext cx="11049000" cy="742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50" u="none" cap="none" strike="noStrike">
                <a:solidFill>
                  <a:srgbClr val="2E4A62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CONSTRAINT-AWARE ROUTING</a:t>
            </a:r>
            <a:r>
              <a:rPr b="1" i="0" lang="en-US" sz="2850" u="none" cap="none" strike="noStrike">
                <a:solidFill>
                  <a:srgbClr val="4A2C2A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 端云约束路由与底层保障</a:t>
            </a:r>
            <a:endParaRPr/>
          </a:p>
        </p:txBody>
      </p:sp>
      <p:sp>
        <p:nvSpPr>
          <p:cNvPr id="281" name="Google Shape;281;p23"/>
          <p:cNvSpPr txBox="1"/>
          <p:nvPr/>
        </p:nvSpPr>
        <p:spPr>
          <a:xfrm>
            <a:off x="1123950" y="3962400"/>
            <a:ext cx="9944100" cy="5485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350" u="none" cap="none" strike="noStrike">
                <a:solidFill>
                  <a:srgbClr val="1F1F1F"/>
                </a:solidFill>
                <a:latin typeface="Inter"/>
                <a:ea typeface="Inter"/>
                <a:cs typeface="Inter"/>
                <a:sym typeface="Inter"/>
              </a:rPr>
              <a:t>不仅是路由算法，我们使用 </a:t>
            </a:r>
            <a:r>
              <a:rPr b="1" i="1" lang="en-US" sz="1350" u="none" cap="none" strike="noStrike">
                <a:solidFill>
                  <a:srgbClr val="1F1F1F"/>
                </a:solidFill>
                <a:latin typeface="Inter"/>
                <a:ea typeface="Inter"/>
                <a:cs typeface="Inter"/>
                <a:sym typeface="Inter"/>
              </a:rPr>
              <a:t>Rust NPU 硬件级探针</a:t>
            </a:r>
            <a:r>
              <a:rPr b="0" i="1" lang="en-US" sz="1350" u="none" cap="none" strike="noStrike">
                <a:solidFill>
                  <a:srgbClr val="1F1F1F"/>
                </a:solidFill>
                <a:latin typeface="Inter"/>
                <a:ea typeface="Inter"/>
                <a:cs typeface="Inter"/>
                <a:sym typeface="Inter"/>
              </a:rPr>
              <a:t> 与 </a:t>
            </a:r>
            <a:r>
              <a:rPr b="1" i="1" lang="en-US" sz="1350" u="none" cap="none" strike="noStrike">
                <a:solidFill>
                  <a:srgbClr val="1F1F1F"/>
                </a:solidFill>
                <a:latin typeface="Inter"/>
                <a:ea typeface="Inter"/>
                <a:cs typeface="Inter"/>
                <a:sym typeface="Inter"/>
              </a:rPr>
              <a:t>Tauri IPC StreamId 隔离协议</a:t>
            </a:r>
            <a:r>
              <a:rPr b="0" i="1" lang="en-US" sz="1350" u="none" cap="none" strike="noStrike">
                <a:solidFill>
                  <a:srgbClr val="1F1F1F"/>
                </a:solidFill>
                <a:latin typeface="Inter"/>
                <a:ea typeface="Inter"/>
                <a:cs typeface="Inter"/>
                <a:sym typeface="Inter"/>
              </a:rPr>
              <a:t> 为底座，从操作系统进程根源上保证了多通道并发的安全，避免了高并发下的事件串流崩溃。</a:t>
            </a:r>
            <a:endParaRPr/>
          </a:p>
        </p:txBody>
      </p:sp>
      <p:sp>
        <p:nvSpPr>
          <p:cNvPr id="282" name="Google Shape;282;p23"/>
          <p:cNvSpPr txBox="1"/>
          <p:nvPr/>
        </p:nvSpPr>
        <p:spPr>
          <a:xfrm>
            <a:off x="11487150" y="6286500"/>
            <a:ext cx="13335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A0AEC0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11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AF7"/>
        </a:solidFill>
      </p:bgPr>
    </p:bg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87" name="Google Shape;287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88" name="Google Shape;288;p2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1466850"/>
            <a:ext cx="11049000" cy="4762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89" name="Google Shape;289;p2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6105525"/>
            <a:ext cx="11049000" cy="371475"/>
          </a:xfrm>
          <a:prstGeom prst="rect">
            <a:avLst/>
          </a:prstGeom>
          <a:noFill/>
          <a:ln>
            <a:noFill/>
          </a:ln>
        </p:spPr>
      </p:pic>
      <p:sp>
        <p:nvSpPr>
          <p:cNvPr id="290" name="Google Shape;290;p24"/>
          <p:cNvSpPr txBox="1"/>
          <p:nvPr/>
        </p:nvSpPr>
        <p:spPr>
          <a:xfrm>
            <a:off x="571500" y="438150"/>
            <a:ext cx="11049000" cy="742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50" u="none" cap="none" strike="noStrike">
                <a:solidFill>
                  <a:srgbClr val="2E4A62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RESEARCH ROADMAP</a:t>
            </a:r>
            <a:r>
              <a:rPr b="1" i="0" lang="en-US" sz="2850" u="none" cap="none" strike="noStrike">
                <a:solidFill>
                  <a:srgbClr val="4A2C2A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 研发路线图与关键里程碑</a:t>
            </a:r>
            <a:endParaRPr/>
          </a:p>
        </p:txBody>
      </p:sp>
      <p:sp>
        <p:nvSpPr>
          <p:cNvPr id="291" name="Google Shape;291;p24"/>
          <p:cNvSpPr/>
          <p:nvPr/>
        </p:nvSpPr>
        <p:spPr>
          <a:xfrm>
            <a:off x="571500" y="3829050"/>
            <a:ext cx="11049000" cy="38100"/>
          </a:xfrm>
          <a:prstGeom prst="rect">
            <a:avLst/>
          </a:prstGeom>
          <a:solidFill>
            <a:srgbClr val="D6CBB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2" name="Google Shape;292;p24"/>
          <p:cNvSpPr txBox="1"/>
          <p:nvPr/>
        </p:nvSpPr>
        <p:spPr>
          <a:xfrm>
            <a:off x="657987" y="4133850"/>
            <a:ext cx="2368264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2E4A62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阶段一 (1-2月)</a:t>
            </a:r>
            <a:endParaRPr/>
          </a:p>
        </p:txBody>
      </p:sp>
      <p:sp>
        <p:nvSpPr>
          <p:cNvPr id="293" name="Google Shape;293;p24"/>
          <p:cNvSpPr txBox="1"/>
          <p:nvPr/>
        </p:nvSpPr>
        <p:spPr>
          <a:xfrm>
            <a:off x="714375" y="4514850"/>
            <a:ext cx="2255490" cy="857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9372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25" u="none" cap="none" strike="noStrike">
                <a:solidFill>
                  <a:srgbClr val="4A5568"/>
                </a:solidFill>
                <a:latin typeface="Inter"/>
                <a:ea typeface="Inter"/>
                <a:cs typeface="Inter"/>
                <a:sym typeface="Inter"/>
              </a:rPr>
              <a:t>底层基建与混合检索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125" u="none" cap="none" strike="noStrike">
                <a:solidFill>
                  <a:srgbClr val="4A5568"/>
                </a:solidFill>
                <a:latin typeface="Inter"/>
                <a:ea typeface="Inter"/>
                <a:cs typeface="Inter"/>
                <a:sym typeface="Inter"/>
              </a:rPr>
              <a:t> 搭建 Tauri 端侧环境；完成 GraphRAG-X 的 NetworkX 架构与 RRF 融合算法开发。</a:t>
            </a:r>
            <a:endParaRPr/>
          </a:p>
        </p:txBody>
      </p:sp>
      <p:sp>
        <p:nvSpPr>
          <p:cNvPr id="294" name="Google Shape;294;p24"/>
          <p:cNvSpPr txBox="1"/>
          <p:nvPr/>
        </p:nvSpPr>
        <p:spPr>
          <a:xfrm>
            <a:off x="3493907" y="2181225"/>
            <a:ext cx="2368264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4A2C2A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阶段二 (3-4月)</a:t>
            </a:r>
            <a:endParaRPr/>
          </a:p>
        </p:txBody>
      </p:sp>
      <p:sp>
        <p:nvSpPr>
          <p:cNvPr id="295" name="Google Shape;295;p24"/>
          <p:cNvSpPr txBox="1"/>
          <p:nvPr/>
        </p:nvSpPr>
        <p:spPr>
          <a:xfrm>
            <a:off x="3550294" y="2562225"/>
            <a:ext cx="2255490" cy="857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9372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25" u="none" cap="none" strike="noStrike">
                <a:solidFill>
                  <a:srgbClr val="4A5568"/>
                </a:solidFill>
                <a:latin typeface="Inter"/>
                <a:ea typeface="Inter"/>
                <a:cs typeface="Inter"/>
                <a:sym typeface="Inter"/>
              </a:rPr>
              <a:t>智能编排与算力路由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125" u="none" cap="none" strike="noStrike">
                <a:solidFill>
                  <a:srgbClr val="4A5568"/>
                </a:solidFill>
                <a:latin typeface="Inter"/>
                <a:ea typeface="Inter"/>
                <a:cs typeface="Inter"/>
                <a:sym typeface="Inter"/>
              </a:rPr>
              <a:t> 引入 LangGraph 实现 Planner-Verifier 仲裁网络；完成端云动态约束路由引擎联调。</a:t>
            </a:r>
            <a:endParaRPr/>
          </a:p>
        </p:txBody>
      </p:sp>
      <p:sp>
        <p:nvSpPr>
          <p:cNvPr id="296" name="Google Shape;296;p24"/>
          <p:cNvSpPr txBox="1"/>
          <p:nvPr/>
        </p:nvSpPr>
        <p:spPr>
          <a:xfrm>
            <a:off x="6329827" y="4133850"/>
            <a:ext cx="2368264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2E4A62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阶段三 (5月)</a:t>
            </a:r>
            <a:endParaRPr/>
          </a:p>
        </p:txBody>
      </p:sp>
      <p:sp>
        <p:nvSpPr>
          <p:cNvPr id="297" name="Google Shape;297;p24"/>
          <p:cNvSpPr txBox="1"/>
          <p:nvPr/>
        </p:nvSpPr>
        <p:spPr>
          <a:xfrm>
            <a:off x="6386214" y="4514850"/>
            <a:ext cx="2255490" cy="857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9372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25" u="none" cap="none" strike="noStrike">
                <a:solidFill>
                  <a:srgbClr val="4A5568"/>
                </a:solidFill>
                <a:latin typeface="Inter"/>
                <a:ea typeface="Inter"/>
                <a:cs typeface="Inter"/>
                <a:sym typeface="Inter"/>
              </a:rPr>
              <a:t>消融实验与指标测定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125" u="none" cap="none" strike="noStrike">
                <a:solidFill>
                  <a:srgbClr val="4A5568"/>
                </a:solidFill>
                <a:latin typeface="Inter"/>
                <a:ea typeface="Inter"/>
                <a:cs typeface="Inter"/>
                <a:sym typeface="Inter"/>
              </a:rPr>
              <a:t> 对比 Vanilla RAG 基线，收集精度、延迟与成本数据；执行严苛的模块级消融实验验证假设。</a:t>
            </a:r>
            <a:endParaRPr/>
          </a:p>
        </p:txBody>
      </p:sp>
      <p:sp>
        <p:nvSpPr>
          <p:cNvPr id="298" name="Google Shape;298;p24"/>
          <p:cNvSpPr txBox="1"/>
          <p:nvPr/>
        </p:nvSpPr>
        <p:spPr>
          <a:xfrm>
            <a:off x="9165747" y="2181225"/>
            <a:ext cx="2368264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4A2C2A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阶段四 (6月)</a:t>
            </a:r>
            <a:endParaRPr/>
          </a:p>
        </p:txBody>
      </p:sp>
      <p:sp>
        <p:nvSpPr>
          <p:cNvPr id="299" name="Google Shape;299;p24"/>
          <p:cNvSpPr txBox="1"/>
          <p:nvPr/>
        </p:nvSpPr>
        <p:spPr>
          <a:xfrm>
            <a:off x="9222134" y="2562225"/>
            <a:ext cx="2255490" cy="857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9372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25" u="none" cap="none" strike="noStrike">
                <a:solidFill>
                  <a:srgbClr val="4A5568"/>
                </a:solidFill>
                <a:latin typeface="Inter"/>
                <a:ea typeface="Inter"/>
                <a:cs typeface="Inter"/>
                <a:sym typeface="Inter"/>
              </a:rPr>
              <a:t>开源发布与论文定稿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125" u="none" cap="none" strike="noStrike">
                <a:solidFill>
                  <a:srgbClr val="4A5568"/>
                </a:solidFill>
                <a:latin typeface="Inter"/>
                <a:ea typeface="Inter"/>
                <a:cs typeface="Inter"/>
                <a:sym typeface="Inter"/>
              </a:rPr>
              <a:t> 完善 Benchmark 脚本与交互式调试台；整理答辩数据集、定稿学术论文并正式开源系统库。</a:t>
            </a:r>
            <a:endParaRPr/>
          </a:p>
        </p:txBody>
      </p:sp>
      <p:sp>
        <p:nvSpPr>
          <p:cNvPr id="300" name="Google Shape;300;p24"/>
          <p:cNvSpPr txBox="1"/>
          <p:nvPr/>
        </p:nvSpPr>
        <p:spPr>
          <a:xfrm>
            <a:off x="11458575" y="6286500"/>
            <a:ext cx="161925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A0AEC0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12</a:t>
            </a:r>
            <a:endParaRPr/>
          </a:p>
        </p:txBody>
      </p:sp>
      <p:sp>
        <p:nvSpPr>
          <p:cNvPr id="301" name="Google Shape;301;p24"/>
          <p:cNvSpPr/>
          <p:nvPr/>
        </p:nvSpPr>
        <p:spPr>
          <a:xfrm>
            <a:off x="1727820" y="3733800"/>
            <a:ext cx="228600" cy="228600"/>
          </a:xfrm>
          <a:prstGeom prst="roundRect">
            <a:avLst>
              <a:gd fmla="val 50000" name="adj"/>
            </a:avLst>
          </a:prstGeom>
          <a:solidFill>
            <a:srgbClr val="FAFAF7"/>
          </a:solidFill>
          <a:ln cap="flat" cmpd="sng" w="38100">
            <a:solidFill>
              <a:srgbClr val="2E4A6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2" name="Google Shape;302;p24"/>
          <p:cNvSpPr/>
          <p:nvPr/>
        </p:nvSpPr>
        <p:spPr>
          <a:xfrm>
            <a:off x="4563740" y="3733800"/>
            <a:ext cx="228600" cy="228600"/>
          </a:xfrm>
          <a:prstGeom prst="roundRect">
            <a:avLst>
              <a:gd fmla="val 50000" name="adj"/>
            </a:avLst>
          </a:prstGeom>
          <a:solidFill>
            <a:srgbClr val="FAFAF7"/>
          </a:solidFill>
          <a:ln cap="flat" cmpd="sng" w="38100">
            <a:solidFill>
              <a:srgbClr val="4A2C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3" name="Google Shape;303;p24"/>
          <p:cNvSpPr/>
          <p:nvPr/>
        </p:nvSpPr>
        <p:spPr>
          <a:xfrm>
            <a:off x="7399659" y="3733800"/>
            <a:ext cx="228600" cy="228600"/>
          </a:xfrm>
          <a:prstGeom prst="roundRect">
            <a:avLst>
              <a:gd fmla="val 50000" name="adj"/>
            </a:avLst>
          </a:prstGeom>
          <a:solidFill>
            <a:srgbClr val="FAFAF7"/>
          </a:solidFill>
          <a:ln cap="flat" cmpd="sng" w="38100">
            <a:solidFill>
              <a:srgbClr val="2E4A6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4" name="Google Shape;304;p24"/>
          <p:cNvSpPr/>
          <p:nvPr/>
        </p:nvSpPr>
        <p:spPr>
          <a:xfrm>
            <a:off x="10235579" y="3733800"/>
            <a:ext cx="228600" cy="228600"/>
          </a:xfrm>
          <a:prstGeom prst="roundRect">
            <a:avLst>
              <a:gd fmla="val 50000" name="adj"/>
            </a:avLst>
          </a:prstGeom>
          <a:solidFill>
            <a:srgbClr val="FAFAF7"/>
          </a:solidFill>
          <a:ln cap="flat" cmpd="sng" w="38100">
            <a:solidFill>
              <a:srgbClr val="4A2C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AF7"/>
        </a:solidFill>
      </p:bgPr>
    </p:bg>
    <p:spTree>
      <p:nvGrpSpPr>
        <p:cNvPr id="308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09" name="Google Shape;309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10" name="Google Shape;310;p2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1600200"/>
            <a:ext cx="11049000" cy="4762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11" name="Google Shape;311;p2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2362200"/>
            <a:ext cx="5334000" cy="278115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12" name="Google Shape;312;p2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286500" y="2362200"/>
            <a:ext cx="5334000" cy="278115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13" name="Google Shape;313;p2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71500" y="6105525"/>
            <a:ext cx="11049000" cy="371475"/>
          </a:xfrm>
          <a:prstGeom prst="rect">
            <a:avLst/>
          </a:prstGeom>
          <a:noFill/>
          <a:ln>
            <a:noFill/>
          </a:ln>
        </p:spPr>
      </p:pic>
      <p:sp>
        <p:nvSpPr>
          <p:cNvPr id="314" name="Google Shape;314;p25"/>
          <p:cNvSpPr txBox="1"/>
          <p:nvPr/>
        </p:nvSpPr>
        <p:spPr>
          <a:xfrm>
            <a:off x="571500" y="571500"/>
            <a:ext cx="11049000" cy="742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50" u="none" cap="none" strike="noStrike">
                <a:solidFill>
                  <a:srgbClr val="2E4A62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EXPERIMENTAL DESIGN</a:t>
            </a:r>
            <a:r>
              <a:rPr b="1" i="0" lang="en-US" sz="2850" u="none" cap="none" strike="noStrike">
                <a:solidFill>
                  <a:srgbClr val="4A2C2A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 实验设计：对比基线与消融体系</a:t>
            </a:r>
            <a:endParaRPr/>
          </a:p>
        </p:txBody>
      </p:sp>
      <p:sp>
        <p:nvSpPr>
          <p:cNvPr id="315" name="Google Shape;315;p25"/>
          <p:cNvSpPr txBox="1"/>
          <p:nvPr/>
        </p:nvSpPr>
        <p:spPr>
          <a:xfrm>
            <a:off x="866775" y="2657475"/>
            <a:ext cx="4980622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50" u="none" cap="none" strike="noStrike">
                <a:solidFill>
                  <a:srgbClr val="4A2C2A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对比基线 (Baselines)</a:t>
            </a:r>
            <a:endParaRPr/>
          </a:p>
        </p:txBody>
      </p:sp>
      <p:sp>
        <p:nvSpPr>
          <p:cNvPr id="316" name="Google Shape;316;p25"/>
          <p:cNvSpPr txBox="1"/>
          <p:nvPr/>
        </p:nvSpPr>
        <p:spPr>
          <a:xfrm>
            <a:off x="6581775" y="2657475"/>
            <a:ext cx="4980622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50" u="none" cap="none" strike="noStrike">
                <a:solidFill>
                  <a:srgbClr val="4A2C2A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消融实验 (Ablations)</a:t>
            </a:r>
            <a:endParaRPr/>
          </a:p>
        </p:txBody>
      </p:sp>
      <p:sp>
        <p:nvSpPr>
          <p:cNvPr id="317" name="Google Shape;317;p25"/>
          <p:cNvSpPr txBox="1"/>
          <p:nvPr/>
        </p:nvSpPr>
        <p:spPr>
          <a:xfrm>
            <a:off x="962025" y="3132772"/>
            <a:ext cx="95250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1F1F1F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318" name="Google Shape;318;p25"/>
          <p:cNvSpPr txBox="1"/>
          <p:nvPr/>
        </p:nvSpPr>
        <p:spPr>
          <a:xfrm>
            <a:off x="1057275" y="3133725"/>
            <a:ext cx="4552950" cy="5485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525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1F1F1F"/>
                </a:solidFill>
                <a:latin typeface="Inter"/>
                <a:ea typeface="Inter"/>
                <a:cs typeface="Inter"/>
                <a:sym typeface="Inter"/>
              </a:rPr>
              <a:t>检索模型比对：</a:t>
            </a:r>
            <a:r>
              <a:rPr b="0" i="0" lang="en-US" sz="1350" u="none" cap="none" strike="noStrike">
                <a:solidFill>
                  <a:srgbClr val="1F1F1F"/>
                </a:solidFill>
                <a:latin typeface="Inter"/>
                <a:ea typeface="Inter"/>
                <a:cs typeface="Inter"/>
                <a:sym typeface="Inter"/>
              </a:rPr>
              <a:t> Vanilla RAG vs 单一 GraphRAG vs Hybrid RAG。</a:t>
            </a:r>
            <a:endParaRPr/>
          </a:p>
        </p:txBody>
      </p:sp>
      <p:sp>
        <p:nvSpPr>
          <p:cNvPr id="319" name="Google Shape;319;p25"/>
          <p:cNvSpPr txBox="1"/>
          <p:nvPr/>
        </p:nvSpPr>
        <p:spPr>
          <a:xfrm>
            <a:off x="962025" y="3795652"/>
            <a:ext cx="95250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1F1F1F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320" name="Google Shape;320;p25"/>
          <p:cNvSpPr txBox="1"/>
          <p:nvPr/>
        </p:nvSpPr>
        <p:spPr>
          <a:xfrm>
            <a:off x="1057275" y="3796605"/>
            <a:ext cx="4552950" cy="5485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525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1F1F1F"/>
                </a:solidFill>
                <a:latin typeface="Inter"/>
                <a:ea typeface="Inter"/>
                <a:cs typeface="Inter"/>
                <a:sym typeface="Inter"/>
              </a:rPr>
              <a:t>协作范式比对：</a:t>
            </a:r>
            <a:r>
              <a:rPr b="0" i="0" lang="en-US" sz="1350" u="none" cap="none" strike="noStrike">
                <a:solidFill>
                  <a:srgbClr val="1F1F1F"/>
                </a:solidFill>
                <a:latin typeface="Inter"/>
                <a:ea typeface="Inter"/>
                <a:cs typeface="Inter"/>
                <a:sym typeface="Inter"/>
              </a:rPr>
              <a:t> Single Agent 直接回复 vs Multi-Agent 编排。</a:t>
            </a:r>
            <a:endParaRPr/>
          </a:p>
        </p:txBody>
      </p:sp>
      <p:sp>
        <p:nvSpPr>
          <p:cNvPr id="321" name="Google Shape;321;p25"/>
          <p:cNvSpPr txBox="1"/>
          <p:nvPr/>
        </p:nvSpPr>
        <p:spPr>
          <a:xfrm>
            <a:off x="962025" y="4458533"/>
            <a:ext cx="95250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1F1F1F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322" name="Google Shape;322;p25"/>
          <p:cNvSpPr txBox="1"/>
          <p:nvPr/>
        </p:nvSpPr>
        <p:spPr>
          <a:xfrm>
            <a:off x="1057275" y="4459485"/>
            <a:ext cx="4552950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525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1F1F1F"/>
                </a:solidFill>
                <a:latin typeface="Inter"/>
                <a:ea typeface="Inter"/>
                <a:cs typeface="Inter"/>
                <a:sym typeface="Inter"/>
              </a:rPr>
              <a:t>调度策略比对：</a:t>
            </a:r>
            <a:r>
              <a:rPr b="0" i="0" lang="en-US" sz="1350" u="none" cap="none" strike="noStrike">
                <a:solidFill>
                  <a:srgbClr val="1F1F1F"/>
                </a:solidFill>
                <a:latin typeface="Inter"/>
                <a:ea typeface="Inter"/>
                <a:cs typeface="Inter"/>
                <a:sym typeface="Inter"/>
              </a:rPr>
              <a:t> All-Cloud vs 约束感知的动态路由。</a:t>
            </a:r>
            <a:endParaRPr/>
          </a:p>
        </p:txBody>
      </p:sp>
      <p:sp>
        <p:nvSpPr>
          <p:cNvPr id="323" name="Google Shape;323;p25"/>
          <p:cNvSpPr txBox="1"/>
          <p:nvPr/>
        </p:nvSpPr>
        <p:spPr>
          <a:xfrm>
            <a:off x="6677025" y="3132772"/>
            <a:ext cx="95250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1F1F1F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324" name="Google Shape;324;p25"/>
          <p:cNvSpPr txBox="1"/>
          <p:nvPr/>
        </p:nvSpPr>
        <p:spPr>
          <a:xfrm>
            <a:off x="6772275" y="3133725"/>
            <a:ext cx="4552950" cy="5485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525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1F1F1F"/>
                </a:solidFill>
                <a:latin typeface="Inter"/>
                <a:ea typeface="Inter"/>
                <a:cs typeface="Inter"/>
                <a:sym typeface="Inter"/>
              </a:rPr>
              <a:t>移除图扩展验证：</a:t>
            </a:r>
            <a:r>
              <a:rPr b="0" i="0" lang="en-US" sz="1350" u="none" cap="none" strike="noStrike">
                <a:solidFill>
                  <a:srgbClr val="1F1F1F"/>
                </a:solidFill>
                <a:latin typeface="Inter"/>
                <a:ea typeface="Inter"/>
                <a:cs typeface="Inter"/>
                <a:sym typeface="Inter"/>
              </a:rPr>
              <a:t> No Graph Expansion (退化为关键词匹配)。</a:t>
            </a:r>
            <a:endParaRPr/>
          </a:p>
        </p:txBody>
      </p:sp>
      <p:sp>
        <p:nvSpPr>
          <p:cNvPr id="325" name="Google Shape;325;p25"/>
          <p:cNvSpPr txBox="1"/>
          <p:nvPr/>
        </p:nvSpPr>
        <p:spPr>
          <a:xfrm>
            <a:off x="6677025" y="3795652"/>
            <a:ext cx="95250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1F1F1F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326" name="Google Shape;326;p25"/>
          <p:cNvSpPr txBox="1"/>
          <p:nvPr/>
        </p:nvSpPr>
        <p:spPr>
          <a:xfrm>
            <a:off x="6772275" y="3796605"/>
            <a:ext cx="4552950" cy="5485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525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1F1F1F"/>
                </a:solidFill>
                <a:latin typeface="Inter"/>
                <a:ea typeface="Inter"/>
                <a:cs typeface="Inter"/>
                <a:sym typeface="Inter"/>
              </a:rPr>
              <a:t>关闭质量关卡：</a:t>
            </a:r>
            <a:r>
              <a:rPr b="0" i="0" lang="en-US" sz="1350" u="none" cap="none" strike="noStrike">
                <a:solidFill>
                  <a:srgbClr val="1F1F1F"/>
                </a:solidFill>
                <a:latin typeface="Inter"/>
                <a:ea typeface="Inter"/>
                <a:cs typeface="Inter"/>
                <a:sym typeface="Inter"/>
              </a:rPr>
              <a:t> 摘除 Verifier 仲裁节点 / 阻断 Fallback 闭环。</a:t>
            </a:r>
            <a:endParaRPr/>
          </a:p>
        </p:txBody>
      </p:sp>
      <p:sp>
        <p:nvSpPr>
          <p:cNvPr id="327" name="Google Shape;327;p25"/>
          <p:cNvSpPr txBox="1"/>
          <p:nvPr/>
        </p:nvSpPr>
        <p:spPr>
          <a:xfrm>
            <a:off x="6677025" y="4458533"/>
            <a:ext cx="95250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1F1F1F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328" name="Google Shape;328;p25"/>
          <p:cNvSpPr txBox="1"/>
          <p:nvPr/>
        </p:nvSpPr>
        <p:spPr>
          <a:xfrm>
            <a:off x="6772275" y="4459485"/>
            <a:ext cx="4552950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525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1F1F1F"/>
                </a:solidFill>
                <a:latin typeface="Inter"/>
                <a:ea typeface="Inter"/>
                <a:cs typeface="Inter"/>
                <a:sym typeface="Inter"/>
              </a:rPr>
              <a:t>关闭重排控制：</a:t>
            </a:r>
            <a:r>
              <a:rPr b="0" i="0" lang="en-US" sz="1350" u="none" cap="none" strike="noStrike">
                <a:solidFill>
                  <a:srgbClr val="1F1F1F"/>
                </a:solidFill>
                <a:latin typeface="Inter"/>
                <a:ea typeface="Inter"/>
                <a:cs typeface="Inter"/>
                <a:sym typeface="Inter"/>
              </a:rPr>
              <a:t> No Reranker 模块测试语义污染率。</a:t>
            </a:r>
            <a:endParaRPr/>
          </a:p>
        </p:txBody>
      </p:sp>
      <p:sp>
        <p:nvSpPr>
          <p:cNvPr id="329" name="Google Shape;329;p25"/>
          <p:cNvSpPr txBox="1"/>
          <p:nvPr/>
        </p:nvSpPr>
        <p:spPr>
          <a:xfrm>
            <a:off x="11458575" y="6286500"/>
            <a:ext cx="161925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A0AEC0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13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AF7"/>
        </a:solidFill>
      </p:bgPr>
    </p:bg>
    <p:spTree>
      <p:nvGrpSpPr>
        <p:cNvPr id="333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34" name="Google Shape;334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35" name="Google Shape;335;p2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1549896"/>
            <a:ext cx="11049000" cy="4762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36" name="Google Shape;336;p2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6105525"/>
            <a:ext cx="11049000" cy="371475"/>
          </a:xfrm>
          <a:prstGeom prst="rect">
            <a:avLst/>
          </a:prstGeom>
          <a:noFill/>
          <a:ln>
            <a:noFill/>
          </a:ln>
        </p:spPr>
      </p:pic>
      <p:sp>
        <p:nvSpPr>
          <p:cNvPr id="337" name="Google Shape;337;p26"/>
          <p:cNvSpPr txBox="1"/>
          <p:nvPr/>
        </p:nvSpPr>
        <p:spPr>
          <a:xfrm>
            <a:off x="571500" y="521196"/>
            <a:ext cx="11049000" cy="742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50" u="none" cap="none" strike="noStrike">
                <a:solidFill>
                  <a:srgbClr val="2E4A62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METRICS &amp; RESULTS</a:t>
            </a:r>
            <a:r>
              <a:rPr b="1" i="0" lang="en-US" sz="2850" u="none" cap="none" strike="noStrike">
                <a:solidFill>
                  <a:srgbClr val="4A2C2A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 评价指标闭环与预期推演</a:t>
            </a:r>
            <a:endParaRPr/>
          </a:p>
        </p:txBody>
      </p:sp>
      <p:sp>
        <p:nvSpPr>
          <p:cNvPr id="338" name="Google Shape;338;p26"/>
          <p:cNvSpPr/>
          <p:nvPr/>
        </p:nvSpPr>
        <p:spPr>
          <a:xfrm>
            <a:off x="571500" y="2311896"/>
            <a:ext cx="11049000" cy="2882056"/>
          </a:xfrm>
          <a:prstGeom prst="roundRect">
            <a:avLst>
              <a:gd fmla="val 0" name="adj"/>
            </a:avLst>
          </a:prstGeom>
          <a:solidFill>
            <a:srgbClr val="FFFFFF"/>
          </a:solidFill>
          <a:ln cap="flat" cmpd="sng" w="9525">
            <a:solidFill>
              <a:srgbClr val="4A7DB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339" name="Google Shape;339;p26"/>
          <p:cNvGraphicFramePr/>
          <p:nvPr/>
        </p:nvGraphicFramePr>
        <p:xfrm>
          <a:off x="571500" y="2311896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{A0B1F3C7-7AD7-4E1C-BA2B-8894061F1AD7}</a:tableStyleId>
              </a:tblPr>
              <a:tblGrid>
                <a:gridCol w="3311725"/>
                <a:gridCol w="4967725"/>
                <a:gridCol w="2760025"/>
              </a:tblGrid>
              <a:tr h="7205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4A2C2A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维度指标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4A2C2A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具体考量细项 (Measurements)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4A2C2A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模型期望结论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FAFC"/>
                    </a:solidFill>
                  </a:tcPr>
                </a:tc>
              </a:tr>
              <a:tr h="7205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 cap="none" strike="noStrike">
                          <a:solidFill>
                            <a:srgbClr val="1F1F1F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检索精度体系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1F1F1F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Recall@k, MRR (Mean Reciprocal Rank), nDCG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1F1F1F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基于 Hybrid 范式大幅拉升。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7205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 cap="none" strike="noStrike">
                          <a:solidFill>
                            <a:srgbClr val="1F1F1F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内容可信与一致性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1F1F1F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Groundedness, Citation Accuracy, Hallucination Rate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1F1F1F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借由 Agent 仲裁控制幻觉方差。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7205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 cap="none" strike="noStrike">
                          <a:solidFill>
                            <a:srgbClr val="1F1F1F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工程系统效率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1F1F1F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P95 Latency 尾部延迟分布, Request/Token Cost 消耗率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1F1F1F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通过约束路由触及成本极值点。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340" name="Google Shape;340;p26"/>
          <p:cNvSpPr/>
          <p:nvPr/>
        </p:nvSpPr>
        <p:spPr>
          <a:xfrm>
            <a:off x="576262" y="2865239"/>
            <a:ext cx="3311723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1" name="Google Shape;341;p26"/>
          <p:cNvSpPr/>
          <p:nvPr/>
        </p:nvSpPr>
        <p:spPr>
          <a:xfrm>
            <a:off x="3887985" y="2865239"/>
            <a:ext cx="4967733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2" name="Google Shape;342;p26"/>
          <p:cNvSpPr/>
          <p:nvPr/>
        </p:nvSpPr>
        <p:spPr>
          <a:xfrm>
            <a:off x="8855719" y="2865239"/>
            <a:ext cx="2760017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3" name="Google Shape;343;p26"/>
          <p:cNvSpPr/>
          <p:nvPr/>
        </p:nvSpPr>
        <p:spPr>
          <a:xfrm>
            <a:off x="576262" y="3453854"/>
            <a:ext cx="3311723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4" name="Google Shape;344;p26"/>
          <p:cNvSpPr/>
          <p:nvPr/>
        </p:nvSpPr>
        <p:spPr>
          <a:xfrm>
            <a:off x="3887985" y="3453854"/>
            <a:ext cx="4967733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5" name="Google Shape;345;p26"/>
          <p:cNvSpPr/>
          <p:nvPr/>
        </p:nvSpPr>
        <p:spPr>
          <a:xfrm>
            <a:off x="8855719" y="3453854"/>
            <a:ext cx="2760017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6" name="Google Shape;346;p26"/>
          <p:cNvSpPr/>
          <p:nvPr/>
        </p:nvSpPr>
        <p:spPr>
          <a:xfrm>
            <a:off x="576262" y="4316759"/>
            <a:ext cx="3311723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7" name="Google Shape;347;p26"/>
          <p:cNvSpPr/>
          <p:nvPr/>
        </p:nvSpPr>
        <p:spPr>
          <a:xfrm>
            <a:off x="3887985" y="4316759"/>
            <a:ext cx="4967733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8" name="Google Shape;348;p26"/>
          <p:cNvSpPr/>
          <p:nvPr/>
        </p:nvSpPr>
        <p:spPr>
          <a:xfrm>
            <a:off x="8855719" y="4316759"/>
            <a:ext cx="2760017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9" name="Google Shape;349;p26"/>
          <p:cNvSpPr/>
          <p:nvPr/>
        </p:nvSpPr>
        <p:spPr>
          <a:xfrm>
            <a:off x="576262" y="5179665"/>
            <a:ext cx="3311723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0" name="Google Shape;350;p26"/>
          <p:cNvSpPr/>
          <p:nvPr/>
        </p:nvSpPr>
        <p:spPr>
          <a:xfrm>
            <a:off x="3887985" y="5179665"/>
            <a:ext cx="4967733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1" name="Google Shape;351;p26"/>
          <p:cNvSpPr/>
          <p:nvPr/>
        </p:nvSpPr>
        <p:spPr>
          <a:xfrm>
            <a:off x="8855719" y="5179665"/>
            <a:ext cx="2760017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2" name="Google Shape;352;p26"/>
          <p:cNvSpPr txBox="1"/>
          <p:nvPr/>
        </p:nvSpPr>
        <p:spPr>
          <a:xfrm>
            <a:off x="11449050" y="6286500"/>
            <a:ext cx="17145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A0AEC0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14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AF7"/>
        </a:solidFill>
      </p:bgPr>
    </p:bg>
    <p:spTree>
      <p:nvGrpSpPr>
        <p:cNvPr id="356" name="Shape 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57" name="Google Shape;357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58" name="Google Shape;358;p27"/>
          <p:cNvSpPr txBox="1"/>
          <p:nvPr/>
        </p:nvSpPr>
        <p:spPr>
          <a:xfrm>
            <a:off x="295275" y="571500"/>
            <a:ext cx="11601450" cy="1019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000" u="none" cap="none" strike="noStrike">
                <a:solidFill>
                  <a:srgbClr val="4A2C2A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Q &amp; A</a:t>
            </a:r>
            <a:endParaRPr/>
          </a:p>
        </p:txBody>
      </p:sp>
      <p:sp>
        <p:nvSpPr>
          <p:cNvPr id="359" name="Google Shape;359;p27"/>
          <p:cNvSpPr txBox="1"/>
          <p:nvPr/>
        </p:nvSpPr>
        <p:spPr>
          <a:xfrm>
            <a:off x="571500" y="1781175"/>
            <a:ext cx="11049000" cy="335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4A5568"/>
                </a:solidFill>
                <a:latin typeface="Inter"/>
                <a:ea typeface="Inter"/>
                <a:cs typeface="Inter"/>
                <a:sym typeface="Inter"/>
              </a:rPr>
              <a:t>基于防劣化约束设计、清晰风险兜底 (Mock Fallback) 与多期研发里程碑验证。</a:t>
            </a:r>
            <a:endParaRPr/>
          </a:p>
        </p:txBody>
      </p:sp>
      <p:sp>
        <p:nvSpPr>
          <p:cNvPr id="360" name="Google Shape;360;p27"/>
          <p:cNvSpPr/>
          <p:nvPr/>
        </p:nvSpPr>
        <p:spPr>
          <a:xfrm>
            <a:off x="5381625" y="2497335"/>
            <a:ext cx="1428750" cy="19050"/>
          </a:xfrm>
          <a:prstGeom prst="rect">
            <a:avLst/>
          </a:prstGeom>
          <a:solidFill>
            <a:srgbClr val="C19B6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1" name="Google Shape;361;p27"/>
          <p:cNvSpPr txBox="1"/>
          <p:nvPr/>
        </p:nvSpPr>
        <p:spPr>
          <a:xfrm>
            <a:off x="571500" y="2992635"/>
            <a:ext cx="11049000" cy="695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A2C2A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THANK YOU FOR YOUR ATTENTION 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500" u="none" cap="none" strike="noStrike">
                <a:solidFill>
                  <a:srgbClr val="4A2C2A"/>
                </a:solidFill>
                <a:latin typeface="Inter"/>
                <a:ea typeface="Inter"/>
                <a:cs typeface="Inter"/>
                <a:sym typeface="Inter"/>
              </a:rPr>
              <a:t>欢迎答辩委员会各位专家提问与指正</a:t>
            </a:r>
            <a:endParaRPr/>
          </a:p>
        </p:txBody>
      </p:sp>
      <p:sp>
        <p:nvSpPr>
          <p:cNvPr id="362" name="Google Shape;362;p27"/>
          <p:cNvSpPr txBox="1"/>
          <p:nvPr/>
        </p:nvSpPr>
        <p:spPr>
          <a:xfrm>
            <a:off x="11458575" y="6286500"/>
            <a:ext cx="161925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A0AEC0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15</a:t>
            </a:r>
            <a:endParaRPr/>
          </a:p>
        </p:txBody>
      </p:sp>
      <p:sp>
        <p:nvSpPr>
          <p:cNvPr id="363" name="Google Shape;363;p27"/>
          <p:cNvSpPr txBox="1"/>
          <p:nvPr/>
        </p:nvSpPr>
        <p:spPr>
          <a:xfrm>
            <a:off x="0" y="6257925"/>
            <a:ext cx="12192000" cy="2190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275" u="none" cap="none" strike="noStrike">
                <a:solidFill>
                  <a:srgbClr val="4A2C2A"/>
                </a:solidFill>
                <a:latin typeface="Inter Medium"/>
                <a:ea typeface="Inter Medium"/>
                <a:cs typeface="Inter Medium"/>
                <a:sym typeface="Inter Medium"/>
              </a:rPr>
              <a:t> 研究路径高度清晰，架构系统级工程风险处于可防可控范围，并具强大前沿学术落地潜力。 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AF7"/>
        </a:solidFill>
      </p:bgPr>
    </p:bg>
    <p:spTree>
      <p:nvGrpSpPr>
        <p:cNvPr id="367" name="Shape 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68" name="Google Shape;368;p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69" name="Google Shape;369;p28"/>
          <p:cNvSpPr/>
          <p:nvPr/>
        </p:nvSpPr>
        <p:spPr>
          <a:xfrm>
            <a:off x="571500" y="893712"/>
            <a:ext cx="9982200" cy="78477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0" name="Google Shape;370;p28"/>
          <p:cNvSpPr/>
          <p:nvPr/>
        </p:nvSpPr>
        <p:spPr>
          <a:xfrm>
            <a:off x="571500" y="1678483"/>
            <a:ext cx="9982200" cy="78477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1" name="Google Shape;371;p28"/>
          <p:cNvSpPr/>
          <p:nvPr/>
        </p:nvSpPr>
        <p:spPr>
          <a:xfrm>
            <a:off x="571500" y="2463254"/>
            <a:ext cx="9982200" cy="78477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2" name="Google Shape;372;p28"/>
          <p:cNvSpPr/>
          <p:nvPr/>
        </p:nvSpPr>
        <p:spPr>
          <a:xfrm>
            <a:off x="571500" y="3248025"/>
            <a:ext cx="9982200" cy="78477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3" name="Google Shape;373;p28"/>
          <p:cNvSpPr/>
          <p:nvPr/>
        </p:nvSpPr>
        <p:spPr>
          <a:xfrm>
            <a:off x="571500" y="4032795"/>
            <a:ext cx="9982200" cy="78477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4" name="Google Shape;374;p28"/>
          <p:cNvSpPr/>
          <p:nvPr/>
        </p:nvSpPr>
        <p:spPr>
          <a:xfrm>
            <a:off x="571500" y="1668958"/>
            <a:ext cx="99822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5" name="Google Shape;375;p28"/>
          <p:cNvSpPr/>
          <p:nvPr/>
        </p:nvSpPr>
        <p:spPr>
          <a:xfrm>
            <a:off x="571500" y="1668958"/>
            <a:ext cx="99822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6" name="Google Shape;376;p28"/>
          <p:cNvSpPr/>
          <p:nvPr/>
        </p:nvSpPr>
        <p:spPr>
          <a:xfrm>
            <a:off x="571500" y="2453729"/>
            <a:ext cx="99822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7" name="Google Shape;377;p28"/>
          <p:cNvSpPr/>
          <p:nvPr/>
        </p:nvSpPr>
        <p:spPr>
          <a:xfrm>
            <a:off x="571500" y="2453729"/>
            <a:ext cx="99822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8" name="Google Shape;378;p28"/>
          <p:cNvSpPr/>
          <p:nvPr/>
        </p:nvSpPr>
        <p:spPr>
          <a:xfrm>
            <a:off x="571500" y="3238500"/>
            <a:ext cx="99822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9" name="Google Shape;379;p28"/>
          <p:cNvSpPr/>
          <p:nvPr/>
        </p:nvSpPr>
        <p:spPr>
          <a:xfrm>
            <a:off x="571500" y="3238500"/>
            <a:ext cx="99822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0" name="Google Shape;380;p28"/>
          <p:cNvSpPr/>
          <p:nvPr/>
        </p:nvSpPr>
        <p:spPr>
          <a:xfrm>
            <a:off x="571500" y="4023270"/>
            <a:ext cx="99822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1" name="Google Shape;381;p28"/>
          <p:cNvSpPr/>
          <p:nvPr/>
        </p:nvSpPr>
        <p:spPr>
          <a:xfrm>
            <a:off x="571500" y="4023270"/>
            <a:ext cx="99822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2" name="Google Shape;382;p28"/>
          <p:cNvSpPr/>
          <p:nvPr/>
        </p:nvSpPr>
        <p:spPr>
          <a:xfrm>
            <a:off x="571500" y="4808041"/>
            <a:ext cx="99822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3" name="Google Shape;383;p28"/>
          <p:cNvSpPr/>
          <p:nvPr/>
        </p:nvSpPr>
        <p:spPr>
          <a:xfrm>
            <a:off x="571500" y="4808041"/>
            <a:ext cx="99822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384" name="Google Shape;384;p2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1043136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385" name="Google Shape;385;p28"/>
          <p:cNvSpPr txBox="1"/>
          <p:nvPr/>
        </p:nvSpPr>
        <p:spPr>
          <a:xfrm>
            <a:off x="1666875" y="1036587"/>
            <a:ext cx="8886825" cy="1980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1F1F1F"/>
                </a:solidFill>
                <a:latin typeface="Inter"/>
                <a:ea typeface="Inter"/>
                <a:cs typeface="Inter"/>
                <a:sym typeface="Inter"/>
              </a:rPr>
              <a:t>https://rocketstation.com/wp-content/uploads/2022/02/On-the-Security-and-Privacy-Challenges-of-Virtual-Assistants-.png</a:t>
            </a:r>
            <a:endParaRPr/>
          </a:p>
        </p:txBody>
      </p:sp>
      <p:sp>
        <p:nvSpPr>
          <p:cNvPr id="386" name="Google Shape;386;p28"/>
          <p:cNvSpPr txBox="1"/>
          <p:nvPr/>
        </p:nvSpPr>
        <p:spPr>
          <a:xfrm>
            <a:off x="1666875" y="1282303"/>
            <a:ext cx="8886825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1F1F1F"/>
                </a:solidFill>
                <a:latin typeface="Inter"/>
                <a:ea typeface="Inter"/>
                <a:cs typeface="Inter"/>
                <a:sym typeface="Inter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Inter"/>
                <a:ea typeface="Inter"/>
                <a:cs typeface="Inter"/>
                <a:sym typeface="Inter"/>
              </a:rPr>
              <a:t>rocketstation.com</a:t>
            </a:r>
            <a:endParaRPr/>
          </a:p>
        </p:txBody>
      </p:sp>
      <p:pic>
        <p:nvPicPr>
          <p:cNvPr descr="image.png" id="387" name="Google Shape;387;p2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1827907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388" name="Google Shape;388;p28"/>
          <p:cNvSpPr txBox="1"/>
          <p:nvPr/>
        </p:nvSpPr>
        <p:spPr>
          <a:xfrm>
            <a:off x="1666875" y="1821358"/>
            <a:ext cx="8886825" cy="1980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1F1F1F"/>
                </a:solidFill>
                <a:latin typeface="Inter"/>
                <a:ea typeface="Inter"/>
                <a:cs typeface="Inter"/>
                <a:sym typeface="Inter"/>
              </a:rPr>
              <a:t>https://blog.langchain.com/content/images/2024/01/simple_multi_agent_diagram--1-.png</a:t>
            </a:r>
            <a:endParaRPr/>
          </a:p>
        </p:txBody>
      </p:sp>
      <p:sp>
        <p:nvSpPr>
          <p:cNvPr id="389" name="Google Shape;389;p28"/>
          <p:cNvSpPr txBox="1"/>
          <p:nvPr/>
        </p:nvSpPr>
        <p:spPr>
          <a:xfrm>
            <a:off x="1666875" y="2067073"/>
            <a:ext cx="8886825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1F1F1F"/>
                </a:solidFill>
                <a:latin typeface="Inter"/>
                <a:ea typeface="Inter"/>
                <a:cs typeface="Inter"/>
                <a:sym typeface="Inter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Inter"/>
                <a:ea typeface="Inter"/>
                <a:cs typeface="Inter"/>
                <a:sym typeface="Inter"/>
              </a:rPr>
              <a:t>blog.langchain.com</a:t>
            </a:r>
            <a:endParaRPr/>
          </a:p>
        </p:txBody>
      </p:sp>
      <p:pic>
        <p:nvPicPr>
          <p:cNvPr descr="image.png" id="390" name="Google Shape;390;p2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2612677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391" name="Google Shape;391;p28"/>
          <p:cNvSpPr txBox="1"/>
          <p:nvPr/>
        </p:nvSpPr>
        <p:spPr>
          <a:xfrm>
            <a:off x="1666875" y="2606129"/>
            <a:ext cx="8886825" cy="1980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1F1F1F"/>
                </a:solidFill>
                <a:latin typeface="Inter"/>
                <a:ea typeface="Inter"/>
                <a:cs typeface="Inter"/>
                <a:sym typeface="Inter"/>
              </a:rPr>
              <a:t>https://www.yfiles.com/assets/images/blog/graph-aggregation.36ed9719d7.png</a:t>
            </a:r>
            <a:endParaRPr/>
          </a:p>
        </p:txBody>
      </p:sp>
      <p:sp>
        <p:nvSpPr>
          <p:cNvPr id="392" name="Google Shape;392;p28"/>
          <p:cNvSpPr txBox="1"/>
          <p:nvPr/>
        </p:nvSpPr>
        <p:spPr>
          <a:xfrm>
            <a:off x="1666875" y="2851844"/>
            <a:ext cx="8886825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1F1F1F"/>
                </a:solidFill>
                <a:latin typeface="Inter"/>
                <a:ea typeface="Inter"/>
                <a:cs typeface="Inter"/>
                <a:sym typeface="Inter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Inter"/>
                <a:ea typeface="Inter"/>
                <a:cs typeface="Inter"/>
                <a:sym typeface="Inter"/>
              </a:rPr>
              <a:t>www.yfiles.com</a:t>
            </a:r>
            <a:endParaRPr/>
          </a:p>
        </p:txBody>
      </p:sp>
      <p:pic>
        <p:nvPicPr>
          <p:cNvPr descr="image.png" id="393" name="Google Shape;393;p28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71500" y="3397448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394" name="Google Shape;394;p28"/>
          <p:cNvSpPr txBox="1"/>
          <p:nvPr/>
        </p:nvSpPr>
        <p:spPr>
          <a:xfrm>
            <a:off x="1666875" y="3390900"/>
            <a:ext cx="8886825" cy="1980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1F1F1F"/>
                </a:solidFill>
                <a:latin typeface="Inter"/>
                <a:ea typeface="Inter"/>
                <a:cs typeface="Inter"/>
                <a:sym typeface="Inter"/>
              </a:rPr>
              <a:t>https://miro.medium.com/0*7OaGfO2DctgswevJ.jpeg</a:t>
            </a:r>
            <a:endParaRPr/>
          </a:p>
        </p:txBody>
      </p:sp>
      <p:sp>
        <p:nvSpPr>
          <p:cNvPr id="395" name="Google Shape;395;p28"/>
          <p:cNvSpPr txBox="1"/>
          <p:nvPr/>
        </p:nvSpPr>
        <p:spPr>
          <a:xfrm>
            <a:off x="1666875" y="3636615"/>
            <a:ext cx="8886825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1F1F1F"/>
                </a:solidFill>
                <a:latin typeface="Inter"/>
                <a:ea typeface="Inter"/>
                <a:cs typeface="Inter"/>
                <a:sym typeface="Inter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Inter"/>
                <a:ea typeface="Inter"/>
                <a:cs typeface="Inter"/>
                <a:sym typeface="Inter"/>
              </a:rPr>
              <a:t>pub.towardsai.net</a:t>
            </a:r>
            <a:endParaRPr/>
          </a:p>
        </p:txBody>
      </p:sp>
      <p:pic>
        <p:nvPicPr>
          <p:cNvPr descr="image.png" id="396" name="Google Shape;396;p28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71500" y="4182219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397" name="Google Shape;397;p28"/>
          <p:cNvSpPr txBox="1"/>
          <p:nvPr/>
        </p:nvSpPr>
        <p:spPr>
          <a:xfrm>
            <a:off x="1666875" y="4175670"/>
            <a:ext cx="8886825" cy="1980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1F1F1F"/>
                </a:solidFill>
                <a:latin typeface="Inter"/>
                <a:ea typeface="Inter"/>
                <a:cs typeface="Inter"/>
                <a:sym typeface="Inter"/>
              </a:rPr>
              <a:t>https://tateeda.com/wp-content/uploads/2025/10/image-1024x683.jpeg</a:t>
            </a:r>
            <a:endParaRPr/>
          </a:p>
        </p:txBody>
      </p:sp>
      <p:sp>
        <p:nvSpPr>
          <p:cNvPr id="398" name="Google Shape;398;p28"/>
          <p:cNvSpPr txBox="1"/>
          <p:nvPr/>
        </p:nvSpPr>
        <p:spPr>
          <a:xfrm>
            <a:off x="1666875" y="4421385"/>
            <a:ext cx="8886825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1F1F1F"/>
                </a:solidFill>
                <a:latin typeface="Inter"/>
                <a:ea typeface="Inter"/>
                <a:cs typeface="Inter"/>
                <a:sym typeface="Inter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Inter"/>
                <a:ea typeface="Inter"/>
                <a:cs typeface="Inter"/>
                <a:sym typeface="Inter"/>
              </a:rPr>
              <a:t>tateeda.com</a:t>
            </a:r>
            <a:endParaRPr/>
          </a:p>
        </p:txBody>
      </p:sp>
      <p:pic>
        <p:nvPicPr>
          <p:cNvPr descr="image.png" id="399" name="Google Shape;399;p28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571500" y="4966989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400" name="Google Shape;400;p28"/>
          <p:cNvSpPr txBox="1"/>
          <p:nvPr/>
        </p:nvSpPr>
        <p:spPr>
          <a:xfrm>
            <a:off x="1666875" y="4960441"/>
            <a:ext cx="8886825" cy="1980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1F1F1F"/>
                </a:solidFill>
                <a:latin typeface="Inter"/>
                <a:ea typeface="Inter"/>
                <a:cs typeface="Inter"/>
                <a:sym typeface="Inter"/>
              </a:rPr>
              <a:t>https://png.pngtree.com/background/20250118/original/pngtree-gilded-patterns-and-lines-on-abstract-ivory-background-picture-image_15263591.jpg</a:t>
            </a:r>
            <a:endParaRPr/>
          </a:p>
        </p:txBody>
      </p:sp>
      <p:sp>
        <p:nvSpPr>
          <p:cNvPr id="401" name="Google Shape;401;p28"/>
          <p:cNvSpPr txBox="1"/>
          <p:nvPr/>
        </p:nvSpPr>
        <p:spPr>
          <a:xfrm>
            <a:off x="1666875" y="5206156"/>
            <a:ext cx="8886825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1F1F1F"/>
                </a:solidFill>
                <a:latin typeface="Inter"/>
                <a:ea typeface="Inter"/>
                <a:cs typeface="Inter"/>
                <a:sym typeface="Inter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Inter"/>
                <a:ea typeface="Inter"/>
                <a:cs typeface="Inter"/>
                <a:sym typeface="Inter"/>
              </a:rPr>
              <a:t>pngtree.com</a:t>
            </a:r>
            <a:endParaRPr/>
          </a:p>
        </p:txBody>
      </p:sp>
      <p:sp>
        <p:nvSpPr>
          <p:cNvPr id="402" name="Google Shape;402;p28"/>
          <p:cNvSpPr txBox="1"/>
          <p:nvPr/>
        </p:nvSpPr>
        <p:spPr>
          <a:xfrm>
            <a:off x="571500" y="122187"/>
            <a:ext cx="11601450" cy="485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50" u="none" cap="none" strike="noStrike">
                <a:solidFill>
                  <a:srgbClr val="4A2C2A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Image Sources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